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Decreased</c:v>
                </c:pt>
              </c:strCache>
            </c:strRef>
          </c:tx>
          <c:spPr>
            <a:solidFill>
              <a:srgbClr val="A3B5B1"/>
            </a:solidFill>
            <a:ln>
              <a:noFill/>
            </a:ln>
          </c:spPr>
          <c:dLbls>
            <c:dLbl>
              <c:idx val="0"/>
              <c:tx>
                <c:rich>
                  <a:bodyPr/>
                  <a:lstStyle/>
                  <a:p/>
                </c:rich>
              </c:tx>
              <c:showLegendKey val="0"/>
              <c:showVal val="1"/>
              <c:showCatName val="0"/>
              <c:showSerName val="0"/>
              <c:showPercent val="0"/>
              <c:showBubbleSize val="0"/>
            </c:dLbl>
            <c:dLbl>
              <c:idx val="1"/>
              <c:tx>
                <c:rich>
                  <a:bodyPr/>
                  <a:lstStyle/>
                  <a:p/>
                </c:rich>
              </c:tx>
              <c:showLegendKey val="0"/>
              <c:showVal val="1"/>
              <c:showCatName val="0"/>
              <c:showSerName val="0"/>
              <c:showPercent val="0"/>
              <c:showBubbleSize val="0"/>
            </c:dLbl>
            <c:dLbl>
              <c:idx val="2"/>
              <c:tx>
                <c:rich>
                  <a:bodyPr/>
                  <a:lstStyle/>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Calmness</c:v>
                </c:pt>
                <c:pt idx="1">
                  <c:v>Self-confidence</c:v>
                </c:pt>
                <c:pt idx="2">
                  <c:v>Sociability</c:v>
                </c:pt>
              </c:strCache>
            </c:strRef>
          </c:cat>
          <c:val>
            <c:numRef>
              <c:f>Sheet1!$B$2:$B$4</c:f>
              <c:numCache>
                <c:formatCode>General</c:formatCode>
                <c:ptCount val="3"/>
                <c:pt idx="0">
                  <c:v>3.4</c:v>
                </c:pt>
                <c:pt idx="1">
                  <c:v>10.2</c:v>
                </c:pt>
                <c:pt idx="2">
                  <c:v>12.3</c:v>
                </c:pt>
              </c:numCache>
            </c:numRef>
          </c:val>
        </c:ser>
        <c:ser>
          <c:idx val="1"/>
          <c:order val="1"/>
          <c:tx>
            <c:strRef>
              <c:f>Sheet1!$C$1</c:f>
              <c:strCache>
                <c:ptCount val="1"/>
                <c:pt idx="0">
                  <c:v>No reliable change</c:v>
                </c:pt>
              </c:strCache>
            </c:strRef>
          </c:tx>
          <c:spPr>
            <a:solidFill>
              <a:srgbClr val="E6E9E8"/>
            </a:solidFill>
            <a:ln>
              <a:noFill/>
            </a:ln>
          </c:spPr>
          <c:cat>
            <c:strRef>
              <c:f>Sheet1!$A$2:$A$4</c:f>
              <c:strCache>
                <c:ptCount val="3"/>
                <c:pt idx="0">
                  <c:v>Calmness</c:v>
                </c:pt>
                <c:pt idx="1">
                  <c:v>Self-confidence</c:v>
                </c:pt>
                <c:pt idx="2">
                  <c:v>Sociability</c:v>
                </c:pt>
              </c:strCache>
            </c:strRef>
          </c:cat>
          <c:val>
            <c:numRef>
              <c:f>Sheet1!$C$2:$C$4</c:f>
              <c:numCache>
                <c:formatCode>General</c:formatCode>
                <c:ptCount val="3"/>
                <c:pt idx="0">
                  <c:v>54.7</c:v>
                </c:pt>
                <c:pt idx="1">
                  <c:v>52.5</c:v>
                </c:pt>
                <c:pt idx="2">
                  <c:v>66.3</c:v>
                </c:pt>
              </c:numCache>
            </c:numRef>
          </c:val>
        </c:ser>
        <c:ser>
          <c:idx val="2"/>
          <c:order val="2"/>
          <c:tx>
            <c:strRef>
              <c:f>Sheet1!$D$1</c:f>
              <c:strCache>
                <c:ptCount val="1"/>
                <c:pt idx="0">
                  <c:v>Increased</c:v>
                </c:pt>
              </c:strCache>
            </c:strRef>
          </c:tx>
          <c:spPr>
            <a:solidFill>
              <a:srgbClr val="3C726A"/>
            </a:solidFill>
            <a:ln>
              <a:noFill/>
            </a:ln>
          </c:spPr>
          <c:dLbls>
            <c:txPr>
              <a:bodyPr/>
              <a:lstStyle/>
              <a:p>
                <a:pPr>
                  <a:defRPr>
                    <a:solidFill>
                      <a:srgbClr val="FFFFFF"/>
                    </a:solidFill>
                  </a:defRPr>
                </a:pPr>
              </a:p>
            </c:txPr>
            <c:showLegendKey val="0"/>
            <c:showVal val="0"/>
            <c:showCatName val="0"/>
            <c:showSerName val="0"/>
            <c:showPercent val="0"/>
            <c:showBubbleSize val="0"/>
            <c:showLeaderLines val="1"/>
          </c:dLbls>
          <c:cat>
            <c:strRef>
              <c:f>Sheet1!$A$2:$A$4</c:f>
              <c:strCache>
                <c:ptCount val="3"/>
                <c:pt idx="0">
                  <c:v>Calmness</c:v>
                </c:pt>
                <c:pt idx="1">
                  <c:v>Self-confidence</c:v>
                </c:pt>
                <c:pt idx="2">
                  <c:v>Sociability</c:v>
                </c:pt>
              </c:strCache>
            </c:strRef>
          </c:cat>
          <c:val>
            <c:numRef>
              <c:f>Sheet1!$D$2:$D$4</c:f>
              <c:numCache>
                <c:formatCode>General</c:formatCode>
                <c:ptCount val="3"/>
                <c:pt idx="0">
                  <c:v>41.9</c:v>
                </c:pt>
                <c:pt idx="1">
                  <c:v>37.3</c:v>
                </c:pt>
                <c:pt idx="2">
                  <c:v>21.4</c:v>
                </c:pt>
              </c:numCache>
            </c:numRef>
          </c:val>
        </c:ser>
        <c:dLbls>
          <c:numFmt formatCode="0.0&quot;%&quot;" sourceLinked="0"/>
          <c:txPr>
            <a:bodyPr/>
            <a:lstStyle/>
            <a:p>
              <a:pPr>
                <a:defRPr sz="1600"/>
              </a:pPr>
            </a:p>
          </c:txPr>
          <c:dLblPos val="ctr"/>
          <c:showLegendKey val="0"/>
          <c:showVal val="1"/>
          <c:showCatName val="0"/>
          <c:showSerName val="0"/>
          <c:showPercent val="0"/>
          <c:showBubbleSize val="0"/>
          <c:showLeaderLines val="1"/>
        </c:dLbls>
        <c:gapWidth val="65"/>
        <c:overlap val="100"/>
        <c:axId val="-2068027336"/>
        <c:axId val="-2113994440"/>
      </c:barChart>
      <c:catAx>
        <c:axId val="-2068027336"/>
        <c:scaling>
          <c:orientation val="maxMin"/>
        </c:scaling>
        <c:delete val="0"/>
        <c:axPos val="l"/>
        <c:majorTickMark val="out"/>
        <c:minorTickMark val="none"/>
        <c:tickLblPos val="nextTo"/>
        <c:txPr>
          <a:bodyPr/>
          <a:lstStyle/>
          <a:p>
            <a:pPr>
              <a:defRPr sz="1900"/>
            </a:pPr>
          </a:p>
        </c:txPr>
        <c:crossAx val="-2113994440"/>
        <c:crosses val="autoZero"/>
        <c:auto val="1"/>
        <c:lblAlgn val="ctr"/>
        <c:lblOffset val="100"/>
        <c:noMultiLvlLbl val="0"/>
      </c:catAx>
      <c:valAx>
        <c:axId val="-2113994440"/>
        <c:scaling>
          <c:max val="100.0"/>
          <c:min val="0.0"/>
        </c:scaling>
        <c:delete val="0"/>
        <c:axPos val="b"/>
        <c:majorGridlines/>
        <c:numFmt formatCode="0&quot;%&quot;" sourceLinked="0"/>
        <c:majorTickMark val="out"/>
        <c:minorTickMark val="none"/>
        <c:tickLblPos val="nextTo"/>
        <c:txPr>
          <a:bodyPr/>
          <a:lstStyle/>
          <a:p>
            <a:pPr>
              <a:defRPr sz="1300"/>
            </a:pPr>
          </a:p>
        </c:txPr>
        <c:crossAx val="-2068027336"/>
        <c:crosses val="autoZero"/>
        <c:majorUnit val="25.0"/>
      </c:valAx>
    </c:plotArea>
    <c:legend>
      <c:legendPos val="b"/>
      <c:overlay val="0"/>
      <c:txPr>
        <a:bodyPr/>
        <a:lstStyle/>
        <a:p>
          <a:pPr>
            <a:defRPr sz="15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开场：问 MBTI → 停一下 → 引出自己的问题。</a:t>
            </a:r>
          </a:p>
          <a:p/>
          <a:p>
            <a:r>
              <a:t>Hi everyone. What’s your MBTI? [Pause for 2–3 seconds] And do those four letters really tell us who you are? The two readings made me think about being true to ourselves. But today, I want to ask a different question: do we need to try so hard to find our authentic 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转折：以前觉得寻找自己很重要 → 现在觉得不必一直纠结。</a:t>
            </a:r>
          </a:p>
          <a:p/>
          <a:p>
            <a:r>
              <a:t>I used to think finding my true self was very important. Recently, I changed my view. Maybe we don’t need to keep checking whether everything we do is “the real me.” We can live a little more freely, and think carefully when something important comes along.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理由一：内向也能表达，外向也想独处 → 标签只描述一部分。</a:t>
            </a:r>
          </a:p>
          <a:p/>
          <a:p>
            <a:r>
              <a:t>First, we are more complicated than a label. An introvert can enjoy speaking up about something they love. An extrovert can want a quiet evening alone. Neither has to be pretending. Labels can help us describe ourselves, but they don’t have to decide what we can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理由二：看图 → 只讲 calmness，约 42% 更平静 → 人格有稳定也有变化。</a:t>
            </a:r>
          </a:p>
          <a:p/>
          <a:p>
            <a:r>
              <a:t>Second, we change. Researchers compared the personalities of 1,795 people in adolescence and fifty years later. This chart shows three of the measured traits. For example, about forty-two percent became calmer. Some stayed similar, while others changed. So today’s description of ourselves may not be the final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做法：留意想法 → 认真考虑 → 问别人。紧张与想表达可以同时存在。</a:t>
            </a:r>
          </a:p>
          <a:p/>
          <a:p>
            <a:r>
              <a:t>So, what can we do? When something really matters, our wishes or doubts may become clearer. Notice them, then take time to think. For example, I may feel nervous about a presentation, but still want to share my ideas. Both feelings can be real. We can also ask other people for different views. Finding ourselves doesn’t mean refusing help.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结尾：回扣 MBTI → 好好生活 → 重要时刻思考 → 听别人意见 → 最后一句。</a:t>
            </a:r>
          </a:p>
          <a:p/>
          <a:p>
            <a:r>
              <a:t>So, what’s your MBTI? Whatever your answer is, it doesn’t have to be the whole story. You don’t need to figure yourself out once and for all. Live your life, and when something really matters, take time to consider what you want. Listen to others, too—not to let them define you, but to help you see more clearly. You don’t need a final definition of yourself to make choices that matter to you. Thank you.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参考文献备用页，不需要在四分钟演讲中讲解。图表为根据研究数据重绘，并非原文图像。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058400" cy="320040"/>
          </a:xfrm>
          <a:prstGeom prst="rect">
            <a:avLst/>
          </a:prstGeom>
          <a:noFill/>
        </p:spPr>
        <p:txBody>
          <a:bodyPr wrap="square">
            <a:spAutoFit/>
          </a:bodyPr>
          <a:lstStyle/>
          <a:p>
            <a:pPr>
              <a:spcAft>
                <a:spcPts val="900"/>
              </a:spcAft>
              <a:defRPr sz="1100" b="0">
                <a:solidFill>
                  <a:srgbClr val="627078"/>
                </a:solidFill>
                <a:latin typeface="Aptos"/>
              </a:defRPr>
            </a:pPr>
            <a:r>
              <a:t>FINDING YOUR AUTHENTIC SELF OR NOT</a:t>
            </a:r>
          </a:p>
        </p:txBody>
      </p:sp>
      <p:sp>
        <p:nvSpPr>
          <p:cNvPr id="3" name="TextBox 2"/>
          <p:cNvSpPr txBox="1"/>
          <p:nvPr/>
        </p:nvSpPr>
        <p:spPr>
          <a:xfrm>
            <a:off x="640080" y="914400"/>
            <a:ext cx="10881360" cy="1417320"/>
          </a:xfrm>
          <a:prstGeom prst="rect">
            <a:avLst/>
          </a:prstGeom>
          <a:noFill/>
        </p:spPr>
        <p:txBody>
          <a:bodyPr wrap="square">
            <a:spAutoFit/>
          </a:bodyPr>
          <a:lstStyle/>
          <a:p>
            <a:pPr>
              <a:spcAft>
                <a:spcPts val="900"/>
              </a:spcAft>
              <a:defRPr sz="4000" b="1">
                <a:solidFill>
                  <a:srgbClr val="24343B"/>
                </a:solidFill>
                <a:latin typeface="Aptos"/>
              </a:defRPr>
            </a:pPr>
            <a:r>
              <a:t>Finding Your Authentic Self</a:t>
            </a:r>
          </a:p>
          <a:p>
            <a:pPr>
              <a:spcAft>
                <a:spcPts val="900"/>
              </a:spcAft>
              <a:defRPr sz="4000" b="1">
                <a:solidFill>
                  <a:srgbClr val="24343B"/>
                </a:solidFill>
                <a:latin typeface="Aptos"/>
              </a:defRPr>
            </a:pPr>
            <a:r>
              <a:t>or Not?</a:t>
            </a:r>
          </a:p>
        </p:txBody>
      </p:sp>
      <p:sp>
        <p:nvSpPr>
          <p:cNvPr id="4" name="TextBox 3"/>
          <p:cNvSpPr txBox="1"/>
          <p:nvPr/>
        </p:nvSpPr>
        <p:spPr>
          <a:xfrm>
            <a:off x="685800" y="3017520"/>
            <a:ext cx="10789920" cy="1645920"/>
          </a:xfrm>
          <a:prstGeom prst="rect">
            <a:avLst/>
          </a:prstGeom>
          <a:noFill/>
        </p:spPr>
        <p:txBody>
          <a:bodyPr wrap="square">
            <a:spAutoFit/>
          </a:bodyPr>
          <a:lstStyle/>
          <a:p>
            <a:pPr>
              <a:spcAft>
                <a:spcPts val="900"/>
              </a:spcAft>
              <a:defRPr sz="3000" b="0">
                <a:solidFill>
                  <a:srgbClr val="24343B"/>
                </a:solidFill>
                <a:latin typeface="Aptos"/>
              </a:defRPr>
            </a:pPr>
            <a:r>
              <a:t>What’s your MBTI?</a:t>
            </a:r>
          </a:p>
          <a:p>
            <a:pPr>
              <a:spcAft>
                <a:spcPts val="900"/>
              </a:spcAft>
              <a:defRPr sz="3000" b="0">
                <a:solidFill>
                  <a:srgbClr val="24343B"/>
                </a:solidFill>
                <a:latin typeface="Aptos"/>
              </a:defRPr>
            </a:pPr>
            <a:r>
              <a:t>Is that the whole story?</a:t>
            </a:r>
          </a:p>
        </p:txBody>
      </p:sp>
      <p:sp>
        <p:nvSpPr>
          <p:cNvPr id="5" name="TextBox 4"/>
          <p:cNvSpPr txBox="1"/>
          <p:nvPr/>
        </p:nvSpPr>
        <p:spPr>
          <a:xfrm>
            <a:off x="11064240" y="6419088"/>
            <a:ext cx="548640" cy="228600"/>
          </a:xfrm>
          <a:prstGeom prst="rect">
            <a:avLst/>
          </a:prstGeom>
          <a:noFill/>
        </p:spPr>
        <p:txBody>
          <a:bodyPr wrap="square">
            <a:spAutoFit/>
          </a:bodyPr>
          <a:lstStyle/>
          <a:p>
            <a:pPr>
              <a:spcAft>
                <a:spcPts val="900"/>
              </a:spcAft>
              <a:defRPr sz="1100" b="0">
                <a:solidFill>
                  <a:srgbClr val="627078"/>
                </a:solidFill>
                <a:latin typeface="Apto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058400" cy="320040"/>
          </a:xfrm>
          <a:prstGeom prst="rect">
            <a:avLst/>
          </a:prstGeom>
          <a:noFill/>
        </p:spPr>
        <p:txBody>
          <a:bodyPr wrap="square">
            <a:spAutoFit/>
          </a:bodyPr>
          <a:lstStyle/>
          <a:p>
            <a:pPr>
              <a:spcAft>
                <a:spcPts val="900"/>
              </a:spcAft>
              <a:defRPr sz="1100" b="0">
                <a:solidFill>
                  <a:srgbClr val="627078"/>
                </a:solidFill>
                <a:latin typeface="Aptos"/>
              </a:defRPr>
            </a:pPr>
            <a:r>
              <a:t>FINDING YOUR AUTHENTIC SELF OR NOT</a:t>
            </a:r>
          </a:p>
        </p:txBody>
      </p:sp>
      <p:sp>
        <p:nvSpPr>
          <p:cNvPr id="3" name="TextBox 2"/>
          <p:cNvSpPr txBox="1"/>
          <p:nvPr/>
        </p:nvSpPr>
        <p:spPr>
          <a:xfrm>
            <a:off x="640080" y="914400"/>
            <a:ext cx="10881360" cy="822960"/>
          </a:xfrm>
          <a:prstGeom prst="rect">
            <a:avLst/>
          </a:prstGeom>
          <a:noFill/>
        </p:spPr>
        <p:txBody>
          <a:bodyPr wrap="square">
            <a:spAutoFit/>
          </a:bodyPr>
          <a:lstStyle/>
          <a:p>
            <a:pPr>
              <a:spcAft>
                <a:spcPts val="900"/>
              </a:spcAft>
              <a:defRPr sz="3400" b="1">
                <a:solidFill>
                  <a:srgbClr val="24343B"/>
                </a:solidFill>
                <a:latin typeface="Aptos"/>
              </a:defRPr>
            </a:pPr>
            <a:r>
              <a:t>Do we need to search so hard?</a:t>
            </a:r>
          </a:p>
        </p:txBody>
      </p:sp>
      <p:sp>
        <p:nvSpPr>
          <p:cNvPr id="4" name="TextBox 3"/>
          <p:cNvSpPr txBox="1"/>
          <p:nvPr/>
        </p:nvSpPr>
        <p:spPr>
          <a:xfrm>
            <a:off x="731520" y="2423160"/>
            <a:ext cx="548640" cy="457200"/>
          </a:xfrm>
          <a:prstGeom prst="rect">
            <a:avLst/>
          </a:prstGeom>
          <a:noFill/>
        </p:spPr>
        <p:txBody>
          <a:bodyPr wrap="square">
            <a:spAutoFit/>
          </a:bodyPr>
          <a:lstStyle/>
          <a:p>
            <a:pPr>
              <a:spcAft>
                <a:spcPts val="900"/>
              </a:spcAft>
              <a:defRPr sz="1500" b="1">
                <a:solidFill>
                  <a:srgbClr val="3C726A"/>
                </a:solidFill>
                <a:latin typeface="Aptos"/>
              </a:defRPr>
            </a:pPr>
            <a:r>
              <a:t>01</a:t>
            </a:r>
          </a:p>
        </p:txBody>
      </p:sp>
      <p:sp>
        <p:nvSpPr>
          <p:cNvPr id="5" name="TextBox 4"/>
          <p:cNvSpPr txBox="1"/>
          <p:nvPr/>
        </p:nvSpPr>
        <p:spPr>
          <a:xfrm>
            <a:off x="1371600" y="2331720"/>
            <a:ext cx="9692640" cy="685800"/>
          </a:xfrm>
          <a:prstGeom prst="rect">
            <a:avLst/>
          </a:prstGeom>
          <a:noFill/>
        </p:spPr>
        <p:txBody>
          <a:bodyPr wrap="square">
            <a:spAutoFit/>
          </a:bodyPr>
          <a:lstStyle/>
          <a:p>
            <a:pPr>
              <a:spcAft>
                <a:spcPts val="900"/>
              </a:spcAft>
              <a:defRPr sz="2700" b="0">
                <a:solidFill>
                  <a:srgbClr val="24343B"/>
                </a:solidFill>
                <a:latin typeface="Aptos"/>
              </a:defRPr>
            </a:pPr>
            <a:r>
              <a:t>I used to ask: “Who am I, really?”</a:t>
            </a:r>
          </a:p>
        </p:txBody>
      </p:sp>
      <p:sp>
        <p:nvSpPr>
          <p:cNvPr id="6" name="TextBox 5"/>
          <p:cNvSpPr txBox="1"/>
          <p:nvPr/>
        </p:nvSpPr>
        <p:spPr>
          <a:xfrm>
            <a:off x="731520" y="3246120"/>
            <a:ext cx="548640" cy="457200"/>
          </a:xfrm>
          <a:prstGeom prst="rect">
            <a:avLst/>
          </a:prstGeom>
          <a:noFill/>
        </p:spPr>
        <p:txBody>
          <a:bodyPr wrap="square">
            <a:spAutoFit/>
          </a:bodyPr>
          <a:lstStyle/>
          <a:p>
            <a:pPr>
              <a:spcAft>
                <a:spcPts val="900"/>
              </a:spcAft>
              <a:defRPr sz="1500" b="1">
                <a:solidFill>
                  <a:srgbClr val="3C726A"/>
                </a:solidFill>
                <a:latin typeface="Aptos"/>
              </a:defRPr>
            </a:pPr>
            <a:r>
              <a:t>02</a:t>
            </a:r>
          </a:p>
        </p:txBody>
      </p:sp>
      <p:sp>
        <p:nvSpPr>
          <p:cNvPr id="7" name="TextBox 6"/>
          <p:cNvSpPr txBox="1"/>
          <p:nvPr/>
        </p:nvSpPr>
        <p:spPr>
          <a:xfrm>
            <a:off x="1371600" y="3154679"/>
            <a:ext cx="9692640" cy="685800"/>
          </a:xfrm>
          <a:prstGeom prst="rect">
            <a:avLst/>
          </a:prstGeom>
          <a:noFill/>
        </p:spPr>
        <p:txBody>
          <a:bodyPr wrap="square">
            <a:spAutoFit/>
          </a:bodyPr>
          <a:lstStyle/>
          <a:p>
            <a:pPr>
              <a:spcAft>
                <a:spcPts val="900"/>
              </a:spcAft>
              <a:defRPr sz="2700" b="0">
                <a:solidFill>
                  <a:srgbClr val="24343B"/>
                </a:solidFill>
                <a:latin typeface="Aptos"/>
              </a:defRPr>
            </a:pPr>
            <a:r>
              <a:t>Now I ask: “Do I need a fixed answer?”</a:t>
            </a:r>
          </a:p>
        </p:txBody>
      </p:sp>
      <p:sp>
        <p:nvSpPr>
          <p:cNvPr id="8" name="TextBox 7"/>
          <p:cNvSpPr txBox="1"/>
          <p:nvPr/>
        </p:nvSpPr>
        <p:spPr>
          <a:xfrm>
            <a:off x="731520" y="4069080"/>
            <a:ext cx="548640" cy="457200"/>
          </a:xfrm>
          <a:prstGeom prst="rect">
            <a:avLst/>
          </a:prstGeom>
          <a:noFill/>
        </p:spPr>
        <p:txBody>
          <a:bodyPr wrap="square">
            <a:spAutoFit/>
          </a:bodyPr>
          <a:lstStyle/>
          <a:p>
            <a:pPr>
              <a:spcAft>
                <a:spcPts val="900"/>
              </a:spcAft>
              <a:defRPr sz="1500" b="1">
                <a:solidFill>
                  <a:srgbClr val="3C726A"/>
                </a:solidFill>
                <a:latin typeface="Aptos"/>
              </a:defRPr>
            </a:pPr>
            <a:r>
              <a:t>03</a:t>
            </a:r>
          </a:p>
        </p:txBody>
      </p:sp>
      <p:sp>
        <p:nvSpPr>
          <p:cNvPr id="9" name="TextBox 8"/>
          <p:cNvSpPr txBox="1"/>
          <p:nvPr/>
        </p:nvSpPr>
        <p:spPr>
          <a:xfrm>
            <a:off x="1371600" y="3977639"/>
            <a:ext cx="9692640" cy="685800"/>
          </a:xfrm>
          <a:prstGeom prst="rect">
            <a:avLst/>
          </a:prstGeom>
          <a:noFill/>
        </p:spPr>
        <p:txBody>
          <a:bodyPr wrap="square">
            <a:spAutoFit/>
          </a:bodyPr>
          <a:lstStyle/>
          <a:p>
            <a:pPr>
              <a:spcAft>
                <a:spcPts val="900"/>
              </a:spcAft>
              <a:defRPr sz="2700" b="0">
                <a:solidFill>
                  <a:srgbClr val="24343B"/>
                </a:solidFill>
                <a:latin typeface="Aptos"/>
              </a:defRPr>
            </a:pPr>
            <a:r>
              <a:t>Maybe we can worry less and live more.</a:t>
            </a:r>
          </a:p>
        </p:txBody>
      </p:sp>
      <p:sp>
        <p:nvSpPr>
          <p:cNvPr id="10" name="TextBox 9"/>
          <p:cNvSpPr txBox="1"/>
          <p:nvPr/>
        </p:nvSpPr>
        <p:spPr>
          <a:xfrm>
            <a:off x="11064240" y="6419088"/>
            <a:ext cx="548640" cy="228600"/>
          </a:xfrm>
          <a:prstGeom prst="rect">
            <a:avLst/>
          </a:prstGeom>
          <a:noFill/>
        </p:spPr>
        <p:txBody>
          <a:bodyPr wrap="square">
            <a:spAutoFit/>
          </a:bodyPr>
          <a:lstStyle/>
          <a:p>
            <a:pPr>
              <a:spcAft>
                <a:spcPts val="900"/>
              </a:spcAft>
              <a:defRPr sz="1100" b="0">
                <a:solidFill>
                  <a:srgbClr val="627078"/>
                </a:solidFill>
                <a:latin typeface="Apto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058400" cy="320040"/>
          </a:xfrm>
          <a:prstGeom prst="rect">
            <a:avLst/>
          </a:prstGeom>
          <a:noFill/>
        </p:spPr>
        <p:txBody>
          <a:bodyPr wrap="square">
            <a:spAutoFit/>
          </a:bodyPr>
          <a:lstStyle/>
          <a:p>
            <a:pPr>
              <a:spcAft>
                <a:spcPts val="900"/>
              </a:spcAft>
              <a:defRPr sz="1100" b="0">
                <a:solidFill>
                  <a:srgbClr val="627078"/>
                </a:solidFill>
                <a:latin typeface="Aptos"/>
              </a:defRPr>
            </a:pPr>
            <a:r>
              <a:t>FINDING YOUR AUTHENTIC SELF OR NOT</a:t>
            </a:r>
          </a:p>
        </p:txBody>
      </p:sp>
      <p:sp>
        <p:nvSpPr>
          <p:cNvPr id="3" name="TextBox 2"/>
          <p:cNvSpPr txBox="1"/>
          <p:nvPr/>
        </p:nvSpPr>
        <p:spPr>
          <a:xfrm>
            <a:off x="640080" y="914400"/>
            <a:ext cx="10881360" cy="822960"/>
          </a:xfrm>
          <a:prstGeom prst="rect">
            <a:avLst/>
          </a:prstGeom>
          <a:noFill/>
        </p:spPr>
        <p:txBody>
          <a:bodyPr wrap="square">
            <a:spAutoFit/>
          </a:bodyPr>
          <a:lstStyle/>
          <a:p>
            <a:pPr>
              <a:spcAft>
                <a:spcPts val="900"/>
              </a:spcAft>
              <a:defRPr sz="3400" b="1">
                <a:solidFill>
                  <a:srgbClr val="24343B"/>
                </a:solidFill>
                <a:latin typeface="Aptos"/>
              </a:defRPr>
            </a:pPr>
            <a:r>
              <a:t>We are more than a label.</a:t>
            </a:r>
          </a:p>
        </p:txBody>
      </p:sp>
      <p:sp>
        <p:nvSpPr>
          <p:cNvPr id="4" name="TextBox 3"/>
          <p:cNvSpPr txBox="1"/>
          <p:nvPr/>
        </p:nvSpPr>
        <p:spPr>
          <a:xfrm>
            <a:off x="731520" y="2423160"/>
            <a:ext cx="548640" cy="457200"/>
          </a:xfrm>
          <a:prstGeom prst="rect">
            <a:avLst/>
          </a:prstGeom>
          <a:noFill/>
        </p:spPr>
        <p:txBody>
          <a:bodyPr wrap="square">
            <a:spAutoFit/>
          </a:bodyPr>
          <a:lstStyle/>
          <a:p>
            <a:pPr>
              <a:spcAft>
                <a:spcPts val="900"/>
              </a:spcAft>
              <a:defRPr sz="1500" b="1">
                <a:solidFill>
                  <a:srgbClr val="3C726A"/>
                </a:solidFill>
                <a:latin typeface="Aptos"/>
              </a:defRPr>
            </a:pPr>
            <a:r>
              <a:t>01</a:t>
            </a:r>
          </a:p>
        </p:txBody>
      </p:sp>
      <p:sp>
        <p:nvSpPr>
          <p:cNvPr id="5" name="TextBox 4"/>
          <p:cNvSpPr txBox="1"/>
          <p:nvPr/>
        </p:nvSpPr>
        <p:spPr>
          <a:xfrm>
            <a:off x="1371600" y="2331720"/>
            <a:ext cx="9692640" cy="685800"/>
          </a:xfrm>
          <a:prstGeom prst="rect">
            <a:avLst/>
          </a:prstGeom>
          <a:noFill/>
        </p:spPr>
        <p:txBody>
          <a:bodyPr wrap="square">
            <a:spAutoFit/>
          </a:bodyPr>
          <a:lstStyle/>
          <a:p>
            <a:pPr>
              <a:spcAft>
                <a:spcPts val="900"/>
              </a:spcAft>
              <a:defRPr sz="2700" b="0">
                <a:solidFill>
                  <a:srgbClr val="24343B"/>
                </a:solidFill>
                <a:latin typeface="Aptos"/>
              </a:defRPr>
            </a:pPr>
            <a:r>
              <a:t>An introvert can enjoy speaking up.</a:t>
            </a:r>
          </a:p>
        </p:txBody>
      </p:sp>
      <p:sp>
        <p:nvSpPr>
          <p:cNvPr id="6" name="TextBox 5"/>
          <p:cNvSpPr txBox="1"/>
          <p:nvPr/>
        </p:nvSpPr>
        <p:spPr>
          <a:xfrm>
            <a:off x="731520" y="3246120"/>
            <a:ext cx="548640" cy="457200"/>
          </a:xfrm>
          <a:prstGeom prst="rect">
            <a:avLst/>
          </a:prstGeom>
          <a:noFill/>
        </p:spPr>
        <p:txBody>
          <a:bodyPr wrap="square">
            <a:spAutoFit/>
          </a:bodyPr>
          <a:lstStyle/>
          <a:p>
            <a:pPr>
              <a:spcAft>
                <a:spcPts val="900"/>
              </a:spcAft>
              <a:defRPr sz="1500" b="1">
                <a:solidFill>
                  <a:srgbClr val="3C726A"/>
                </a:solidFill>
                <a:latin typeface="Aptos"/>
              </a:defRPr>
            </a:pPr>
            <a:r>
              <a:t>02</a:t>
            </a:r>
          </a:p>
        </p:txBody>
      </p:sp>
      <p:sp>
        <p:nvSpPr>
          <p:cNvPr id="7" name="TextBox 6"/>
          <p:cNvSpPr txBox="1"/>
          <p:nvPr/>
        </p:nvSpPr>
        <p:spPr>
          <a:xfrm>
            <a:off x="1371600" y="3154679"/>
            <a:ext cx="9692640" cy="685800"/>
          </a:xfrm>
          <a:prstGeom prst="rect">
            <a:avLst/>
          </a:prstGeom>
          <a:noFill/>
        </p:spPr>
        <p:txBody>
          <a:bodyPr wrap="square">
            <a:spAutoFit/>
          </a:bodyPr>
          <a:lstStyle/>
          <a:p>
            <a:pPr>
              <a:spcAft>
                <a:spcPts val="900"/>
              </a:spcAft>
              <a:defRPr sz="2700" b="0">
                <a:solidFill>
                  <a:srgbClr val="24343B"/>
                </a:solidFill>
                <a:latin typeface="Aptos"/>
              </a:defRPr>
            </a:pPr>
            <a:r>
              <a:t>An extrovert can need time alone.</a:t>
            </a:r>
          </a:p>
        </p:txBody>
      </p:sp>
      <p:sp>
        <p:nvSpPr>
          <p:cNvPr id="8" name="TextBox 7"/>
          <p:cNvSpPr txBox="1"/>
          <p:nvPr/>
        </p:nvSpPr>
        <p:spPr>
          <a:xfrm>
            <a:off x="731520" y="4069080"/>
            <a:ext cx="548640" cy="457200"/>
          </a:xfrm>
          <a:prstGeom prst="rect">
            <a:avLst/>
          </a:prstGeom>
          <a:noFill/>
        </p:spPr>
        <p:txBody>
          <a:bodyPr wrap="square">
            <a:spAutoFit/>
          </a:bodyPr>
          <a:lstStyle/>
          <a:p>
            <a:pPr>
              <a:spcAft>
                <a:spcPts val="900"/>
              </a:spcAft>
              <a:defRPr sz="1500" b="1">
                <a:solidFill>
                  <a:srgbClr val="3C726A"/>
                </a:solidFill>
                <a:latin typeface="Aptos"/>
              </a:defRPr>
            </a:pPr>
            <a:r>
              <a:t>03</a:t>
            </a:r>
          </a:p>
        </p:txBody>
      </p:sp>
      <p:sp>
        <p:nvSpPr>
          <p:cNvPr id="9" name="TextBox 8"/>
          <p:cNvSpPr txBox="1"/>
          <p:nvPr/>
        </p:nvSpPr>
        <p:spPr>
          <a:xfrm>
            <a:off x="1371600" y="3977639"/>
            <a:ext cx="9692640" cy="685800"/>
          </a:xfrm>
          <a:prstGeom prst="rect">
            <a:avLst/>
          </a:prstGeom>
          <a:noFill/>
        </p:spPr>
        <p:txBody>
          <a:bodyPr wrap="square">
            <a:spAutoFit/>
          </a:bodyPr>
          <a:lstStyle/>
          <a:p>
            <a:pPr>
              <a:spcAft>
                <a:spcPts val="900"/>
              </a:spcAft>
              <a:defRPr sz="2700" b="0">
                <a:solidFill>
                  <a:srgbClr val="24343B"/>
                </a:solidFill>
                <a:latin typeface="Aptos"/>
              </a:defRPr>
            </a:pPr>
            <a:r>
              <a:t>A label describes part of us.</a:t>
            </a:r>
          </a:p>
        </p:txBody>
      </p:sp>
      <p:sp>
        <p:nvSpPr>
          <p:cNvPr id="10" name="TextBox 9"/>
          <p:cNvSpPr txBox="1"/>
          <p:nvPr/>
        </p:nvSpPr>
        <p:spPr>
          <a:xfrm>
            <a:off x="11064240" y="6419088"/>
            <a:ext cx="548640" cy="228600"/>
          </a:xfrm>
          <a:prstGeom prst="rect">
            <a:avLst/>
          </a:prstGeom>
          <a:noFill/>
        </p:spPr>
        <p:txBody>
          <a:bodyPr wrap="square">
            <a:spAutoFit/>
          </a:bodyPr>
          <a:lstStyle/>
          <a:p>
            <a:pPr>
              <a:spcAft>
                <a:spcPts val="900"/>
              </a:spcAft>
              <a:defRPr sz="1100" b="0">
                <a:solidFill>
                  <a:srgbClr val="627078"/>
                </a:solidFill>
                <a:latin typeface="Apto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058400" cy="320040"/>
          </a:xfrm>
          <a:prstGeom prst="rect">
            <a:avLst/>
          </a:prstGeom>
          <a:noFill/>
        </p:spPr>
        <p:txBody>
          <a:bodyPr wrap="square">
            <a:spAutoFit/>
          </a:bodyPr>
          <a:lstStyle/>
          <a:p>
            <a:pPr>
              <a:spcAft>
                <a:spcPts val="900"/>
              </a:spcAft>
              <a:defRPr sz="1100" b="0">
                <a:solidFill>
                  <a:srgbClr val="627078"/>
                </a:solidFill>
                <a:latin typeface="Aptos"/>
              </a:defRPr>
            </a:pPr>
            <a:r>
              <a:t>FINDING YOUR AUTHENTIC SELF OR NOT</a:t>
            </a:r>
          </a:p>
        </p:txBody>
      </p:sp>
      <p:sp>
        <p:nvSpPr>
          <p:cNvPr id="3" name="TextBox 2"/>
          <p:cNvSpPr txBox="1"/>
          <p:nvPr/>
        </p:nvSpPr>
        <p:spPr>
          <a:xfrm>
            <a:off x="640080" y="914400"/>
            <a:ext cx="10881360" cy="822960"/>
          </a:xfrm>
          <a:prstGeom prst="rect">
            <a:avLst/>
          </a:prstGeom>
          <a:noFill/>
        </p:spPr>
        <p:txBody>
          <a:bodyPr wrap="square">
            <a:spAutoFit/>
          </a:bodyPr>
          <a:lstStyle/>
          <a:p>
            <a:pPr>
              <a:spcAft>
                <a:spcPts val="900"/>
              </a:spcAft>
              <a:defRPr sz="3400" b="1">
                <a:solidFill>
                  <a:srgbClr val="24343B"/>
                </a:solidFill>
                <a:latin typeface="Aptos"/>
              </a:defRPr>
            </a:pPr>
            <a:r>
              <a:t>We also change over time.</a:t>
            </a:r>
          </a:p>
        </p:txBody>
      </p:sp>
      <p:sp>
        <p:nvSpPr>
          <p:cNvPr id="4" name="TextBox 3"/>
          <p:cNvSpPr txBox="1"/>
          <p:nvPr/>
        </p:nvSpPr>
        <p:spPr>
          <a:xfrm>
            <a:off x="731520" y="1737360"/>
            <a:ext cx="10515600" cy="457200"/>
          </a:xfrm>
          <a:prstGeom prst="rect">
            <a:avLst/>
          </a:prstGeom>
          <a:noFill/>
        </p:spPr>
        <p:txBody>
          <a:bodyPr wrap="square">
            <a:spAutoFit/>
          </a:bodyPr>
          <a:lstStyle/>
          <a:p>
            <a:pPr>
              <a:spcAft>
                <a:spcPts val="900"/>
              </a:spcAft>
              <a:defRPr sz="2100" b="0">
                <a:solidFill>
                  <a:srgbClr val="627078"/>
                </a:solidFill>
                <a:latin typeface="Aptos"/>
              </a:defRPr>
            </a:pPr>
            <a:r>
              <a:t>1,795 participants  •  Adolescence → 50 years later</a:t>
            </a:r>
          </a:p>
        </p:txBody>
      </p:sp>
      <p:graphicFrame>
        <p:nvGraphicFramePr>
          <p:cNvPr id="5" name="Chart 4"/>
          <p:cNvGraphicFramePr>
            <a:graphicFrameLocks noGrp="1"/>
          </p:cNvGraphicFramePr>
          <p:nvPr/>
        </p:nvGraphicFramePr>
        <p:xfrm>
          <a:off x="731520" y="2423160"/>
          <a:ext cx="10698480" cy="2834640"/>
        </p:xfrm>
        <a:graphic>
          <a:graphicData uri="http://schemas.openxmlformats.org/drawingml/2006/chart">
            <c:chart xmlns:c="http://schemas.openxmlformats.org/drawingml/2006/chart" r:id="rId2"/>
          </a:graphicData>
        </a:graphic>
      </p:graphicFrame>
      <p:sp>
        <p:nvSpPr>
          <p:cNvPr id="6" name="TextBox 5"/>
          <p:cNvSpPr txBox="1"/>
          <p:nvPr/>
        </p:nvSpPr>
        <p:spPr>
          <a:xfrm>
            <a:off x="731520" y="5440680"/>
            <a:ext cx="10698480" cy="457200"/>
          </a:xfrm>
          <a:prstGeom prst="rect">
            <a:avLst/>
          </a:prstGeom>
          <a:noFill/>
        </p:spPr>
        <p:txBody>
          <a:bodyPr wrap="square">
            <a:spAutoFit/>
          </a:bodyPr>
          <a:lstStyle/>
          <a:p>
            <a:pPr>
              <a:spcAft>
                <a:spcPts val="900"/>
              </a:spcAft>
              <a:defRPr sz="2500" b="1">
                <a:solidFill>
                  <a:srgbClr val="3C726A"/>
                </a:solidFill>
                <a:latin typeface="Aptos"/>
              </a:defRPr>
            </a:pPr>
            <a:r>
              <a:t>Some parts stay similar. Others change.</a:t>
            </a:r>
          </a:p>
        </p:txBody>
      </p:sp>
      <p:sp>
        <p:nvSpPr>
          <p:cNvPr id="7" name="TextBox 6"/>
          <p:cNvSpPr txBox="1"/>
          <p:nvPr/>
        </p:nvSpPr>
        <p:spPr>
          <a:xfrm>
            <a:off x="731520" y="6080760"/>
            <a:ext cx="10789920" cy="411480"/>
          </a:xfrm>
          <a:prstGeom prst="rect">
            <a:avLst/>
          </a:prstGeom>
          <a:noFill/>
        </p:spPr>
        <p:txBody>
          <a:bodyPr wrap="square">
            <a:spAutoFit/>
          </a:bodyPr>
          <a:lstStyle/>
          <a:p>
            <a:pPr>
              <a:spcAft>
                <a:spcPts val="900"/>
              </a:spcAft>
              <a:defRPr sz="1100" b="0">
                <a:solidFill>
                  <a:srgbClr val="627078"/>
                </a:solidFill>
                <a:latin typeface="Aptos"/>
              </a:defRPr>
            </a:pPr>
            <a:r>
              <a:t>Redrawn from Damian et al. (2019), Table 7, p. 688. Selected PTPI scales; reliable change uses RCI ±1.96.</a:t>
            </a:r>
          </a:p>
          <a:p>
            <a:pPr>
              <a:spcAft>
                <a:spcPts val="900"/>
              </a:spcAft>
              <a:defRPr sz="1100" b="0">
                <a:solidFill>
                  <a:srgbClr val="627078"/>
                </a:solidFill>
                <a:latin typeface="Aptos"/>
              </a:defRPr>
            </a:pPr>
            <a:r>
              <a:t>https://doi.org/10.1037/pspp0000210</a:t>
            </a:r>
          </a:p>
        </p:txBody>
      </p:sp>
      <p:sp>
        <p:nvSpPr>
          <p:cNvPr id="8" name="TextBox 7"/>
          <p:cNvSpPr txBox="1"/>
          <p:nvPr/>
        </p:nvSpPr>
        <p:spPr>
          <a:xfrm>
            <a:off x="11064240" y="6419088"/>
            <a:ext cx="548640" cy="228600"/>
          </a:xfrm>
          <a:prstGeom prst="rect">
            <a:avLst/>
          </a:prstGeom>
          <a:noFill/>
        </p:spPr>
        <p:txBody>
          <a:bodyPr wrap="square">
            <a:spAutoFit/>
          </a:bodyPr>
          <a:lstStyle/>
          <a:p>
            <a:pPr>
              <a:spcAft>
                <a:spcPts val="900"/>
              </a:spcAft>
              <a:defRPr sz="1100" b="0">
                <a:solidFill>
                  <a:srgbClr val="627078"/>
                </a:solidFill>
                <a:latin typeface="Apto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058400" cy="320040"/>
          </a:xfrm>
          <a:prstGeom prst="rect">
            <a:avLst/>
          </a:prstGeom>
          <a:noFill/>
        </p:spPr>
        <p:txBody>
          <a:bodyPr wrap="square">
            <a:spAutoFit/>
          </a:bodyPr>
          <a:lstStyle/>
          <a:p>
            <a:pPr>
              <a:spcAft>
                <a:spcPts val="900"/>
              </a:spcAft>
              <a:defRPr sz="1100" b="0">
                <a:solidFill>
                  <a:srgbClr val="627078"/>
                </a:solidFill>
                <a:latin typeface="Aptos"/>
              </a:defRPr>
            </a:pPr>
            <a:r>
              <a:t>FINDING YOUR AUTHENTIC SELF OR NOT</a:t>
            </a:r>
          </a:p>
        </p:txBody>
      </p:sp>
      <p:sp>
        <p:nvSpPr>
          <p:cNvPr id="3" name="TextBox 2"/>
          <p:cNvSpPr txBox="1"/>
          <p:nvPr/>
        </p:nvSpPr>
        <p:spPr>
          <a:xfrm>
            <a:off x="640080" y="914400"/>
            <a:ext cx="10881360" cy="822960"/>
          </a:xfrm>
          <a:prstGeom prst="rect">
            <a:avLst/>
          </a:prstGeom>
          <a:noFill/>
        </p:spPr>
        <p:txBody>
          <a:bodyPr wrap="square">
            <a:spAutoFit/>
          </a:bodyPr>
          <a:lstStyle/>
          <a:p>
            <a:pPr>
              <a:spcAft>
                <a:spcPts val="900"/>
              </a:spcAft>
              <a:defRPr sz="3400" b="1">
                <a:solidFill>
                  <a:srgbClr val="24343B"/>
                </a:solidFill>
                <a:latin typeface="Aptos"/>
              </a:defRPr>
            </a:pPr>
            <a:r>
              <a:t>When it matters, listen carefully.</a:t>
            </a:r>
          </a:p>
        </p:txBody>
      </p:sp>
      <p:sp>
        <p:nvSpPr>
          <p:cNvPr id="4" name="TextBox 3"/>
          <p:cNvSpPr txBox="1"/>
          <p:nvPr/>
        </p:nvSpPr>
        <p:spPr>
          <a:xfrm>
            <a:off x="731520" y="2423160"/>
            <a:ext cx="548640" cy="457200"/>
          </a:xfrm>
          <a:prstGeom prst="rect">
            <a:avLst/>
          </a:prstGeom>
          <a:noFill/>
        </p:spPr>
        <p:txBody>
          <a:bodyPr wrap="square">
            <a:spAutoFit/>
          </a:bodyPr>
          <a:lstStyle/>
          <a:p>
            <a:pPr>
              <a:spcAft>
                <a:spcPts val="900"/>
              </a:spcAft>
              <a:defRPr sz="1500" b="1">
                <a:solidFill>
                  <a:srgbClr val="3C726A"/>
                </a:solidFill>
                <a:latin typeface="Aptos"/>
              </a:defRPr>
            </a:pPr>
            <a:r>
              <a:t>01</a:t>
            </a:r>
          </a:p>
        </p:txBody>
      </p:sp>
      <p:sp>
        <p:nvSpPr>
          <p:cNvPr id="5" name="TextBox 4"/>
          <p:cNvSpPr txBox="1"/>
          <p:nvPr/>
        </p:nvSpPr>
        <p:spPr>
          <a:xfrm>
            <a:off x="1371600" y="2331720"/>
            <a:ext cx="9692640" cy="685800"/>
          </a:xfrm>
          <a:prstGeom prst="rect">
            <a:avLst/>
          </a:prstGeom>
          <a:noFill/>
        </p:spPr>
        <p:txBody>
          <a:bodyPr wrap="square">
            <a:spAutoFit/>
          </a:bodyPr>
          <a:lstStyle/>
          <a:p>
            <a:pPr>
              <a:spcAft>
                <a:spcPts val="900"/>
              </a:spcAft>
              <a:defRPr sz="2700" b="0">
                <a:solidFill>
                  <a:srgbClr val="24343B"/>
                </a:solidFill>
                <a:latin typeface="Aptos"/>
              </a:defRPr>
            </a:pPr>
            <a:r>
              <a:t>Notice: “What do I really want?”</a:t>
            </a:r>
          </a:p>
        </p:txBody>
      </p:sp>
      <p:sp>
        <p:nvSpPr>
          <p:cNvPr id="6" name="TextBox 5"/>
          <p:cNvSpPr txBox="1"/>
          <p:nvPr/>
        </p:nvSpPr>
        <p:spPr>
          <a:xfrm>
            <a:off x="731520" y="3246120"/>
            <a:ext cx="548640" cy="457200"/>
          </a:xfrm>
          <a:prstGeom prst="rect">
            <a:avLst/>
          </a:prstGeom>
          <a:noFill/>
        </p:spPr>
        <p:txBody>
          <a:bodyPr wrap="square">
            <a:spAutoFit/>
          </a:bodyPr>
          <a:lstStyle/>
          <a:p>
            <a:pPr>
              <a:spcAft>
                <a:spcPts val="900"/>
              </a:spcAft>
              <a:defRPr sz="1500" b="1">
                <a:solidFill>
                  <a:srgbClr val="3C726A"/>
                </a:solidFill>
                <a:latin typeface="Aptos"/>
              </a:defRPr>
            </a:pPr>
            <a:r>
              <a:t>02</a:t>
            </a:r>
          </a:p>
        </p:txBody>
      </p:sp>
      <p:sp>
        <p:nvSpPr>
          <p:cNvPr id="7" name="TextBox 6"/>
          <p:cNvSpPr txBox="1"/>
          <p:nvPr/>
        </p:nvSpPr>
        <p:spPr>
          <a:xfrm>
            <a:off x="1371600" y="3154679"/>
            <a:ext cx="9692640" cy="685800"/>
          </a:xfrm>
          <a:prstGeom prst="rect">
            <a:avLst/>
          </a:prstGeom>
          <a:noFill/>
        </p:spPr>
        <p:txBody>
          <a:bodyPr wrap="square">
            <a:spAutoFit/>
          </a:bodyPr>
          <a:lstStyle/>
          <a:p>
            <a:pPr>
              <a:spcAft>
                <a:spcPts val="900"/>
              </a:spcAft>
              <a:defRPr sz="2700" b="0">
                <a:solidFill>
                  <a:srgbClr val="24343B"/>
                </a:solidFill>
                <a:latin typeface="Aptos"/>
              </a:defRPr>
            </a:pPr>
            <a:r>
              <a:t>Pause: “Why does this matter to me?”</a:t>
            </a:r>
          </a:p>
        </p:txBody>
      </p:sp>
      <p:sp>
        <p:nvSpPr>
          <p:cNvPr id="8" name="TextBox 7"/>
          <p:cNvSpPr txBox="1"/>
          <p:nvPr/>
        </p:nvSpPr>
        <p:spPr>
          <a:xfrm>
            <a:off x="731520" y="4069080"/>
            <a:ext cx="548640" cy="457200"/>
          </a:xfrm>
          <a:prstGeom prst="rect">
            <a:avLst/>
          </a:prstGeom>
          <a:noFill/>
        </p:spPr>
        <p:txBody>
          <a:bodyPr wrap="square">
            <a:spAutoFit/>
          </a:bodyPr>
          <a:lstStyle/>
          <a:p>
            <a:pPr>
              <a:spcAft>
                <a:spcPts val="900"/>
              </a:spcAft>
              <a:defRPr sz="1500" b="1">
                <a:solidFill>
                  <a:srgbClr val="3C726A"/>
                </a:solidFill>
                <a:latin typeface="Aptos"/>
              </a:defRPr>
            </a:pPr>
            <a:r>
              <a:t>03</a:t>
            </a:r>
          </a:p>
        </p:txBody>
      </p:sp>
      <p:sp>
        <p:nvSpPr>
          <p:cNvPr id="9" name="TextBox 8"/>
          <p:cNvSpPr txBox="1"/>
          <p:nvPr/>
        </p:nvSpPr>
        <p:spPr>
          <a:xfrm>
            <a:off x="1371600" y="3977639"/>
            <a:ext cx="9692640" cy="685800"/>
          </a:xfrm>
          <a:prstGeom prst="rect">
            <a:avLst/>
          </a:prstGeom>
          <a:noFill/>
        </p:spPr>
        <p:txBody>
          <a:bodyPr wrap="square">
            <a:spAutoFit/>
          </a:bodyPr>
          <a:lstStyle/>
          <a:p>
            <a:pPr>
              <a:spcAft>
                <a:spcPts val="900"/>
              </a:spcAft>
              <a:defRPr sz="2700" b="0">
                <a:solidFill>
                  <a:srgbClr val="24343B"/>
                </a:solidFill>
                <a:latin typeface="Aptos"/>
              </a:defRPr>
            </a:pPr>
            <a:r>
              <a:t>Ask others: “What am I missing?”</a:t>
            </a:r>
          </a:p>
        </p:txBody>
      </p:sp>
      <p:sp>
        <p:nvSpPr>
          <p:cNvPr id="10" name="TextBox 9"/>
          <p:cNvSpPr txBox="1"/>
          <p:nvPr/>
        </p:nvSpPr>
        <p:spPr>
          <a:xfrm>
            <a:off x="11064240" y="6419088"/>
            <a:ext cx="548640" cy="228600"/>
          </a:xfrm>
          <a:prstGeom prst="rect">
            <a:avLst/>
          </a:prstGeom>
          <a:noFill/>
        </p:spPr>
        <p:txBody>
          <a:bodyPr wrap="square">
            <a:spAutoFit/>
          </a:bodyPr>
          <a:lstStyle/>
          <a:p>
            <a:pPr>
              <a:spcAft>
                <a:spcPts val="900"/>
              </a:spcAft>
              <a:defRPr sz="1100" b="0">
                <a:solidFill>
                  <a:srgbClr val="627078"/>
                </a:solidFill>
                <a:latin typeface="Apto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10058400" cy="320040"/>
          </a:xfrm>
          <a:prstGeom prst="rect">
            <a:avLst/>
          </a:prstGeom>
          <a:noFill/>
        </p:spPr>
        <p:txBody>
          <a:bodyPr wrap="square">
            <a:spAutoFit/>
          </a:bodyPr>
          <a:lstStyle/>
          <a:p>
            <a:pPr>
              <a:spcAft>
                <a:spcPts val="900"/>
              </a:spcAft>
              <a:defRPr sz="1100" b="0">
                <a:solidFill>
                  <a:srgbClr val="627078"/>
                </a:solidFill>
                <a:latin typeface="Aptos"/>
              </a:defRPr>
            </a:pPr>
            <a:r>
              <a:t>FINDING YOUR AUTHENTIC SELF OR NOT</a:t>
            </a:r>
          </a:p>
        </p:txBody>
      </p:sp>
      <p:sp>
        <p:nvSpPr>
          <p:cNvPr id="3" name="TextBox 2"/>
          <p:cNvSpPr txBox="1"/>
          <p:nvPr/>
        </p:nvSpPr>
        <p:spPr>
          <a:xfrm>
            <a:off x="640080" y="914400"/>
            <a:ext cx="10881360" cy="822960"/>
          </a:xfrm>
          <a:prstGeom prst="rect">
            <a:avLst/>
          </a:prstGeom>
          <a:noFill/>
        </p:spPr>
        <p:txBody>
          <a:bodyPr wrap="square">
            <a:spAutoFit/>
          </a:bodyPr>
          <a:lstStyle/>
          <a:p>
            <a:pPr>
              <a:spcAft>
                <a:spcPts val="900"/>
              </a:spcAft>
              <a:defRPr sz="3400" b="1">
                <a:solidFill>
                  <a:srgbClr val="24343B"/>
                </a:solidFill>
                <a:latin typeface="Aptos"/>
              </a:defRPr>
            </a:pPr>
            <a:r>
              <a:t>You don’t need a final definition.</a:t>
            </a:r>
          </a:p>
        </p:txBody>
      </p:sp>
      <p:sp>
        <p:nvSpPr>
          <p:cNvPr id="4" name="TextBox 3"/>
          <p:cNvSpPr txBox="1"/>
          <p:nvPr/>
        </p:nvSpPr>
        <p:spPr>
          <a:xfrm>
            <a:off x="731520" y="2423160"/>
            <a:ext cx="548640" cy="457200"/>
          </a:xfrm>
          <a:prstGeom prst="rect">
            <a:avLst/>
          </a:prstGeom>
          <a:noFill/>
        </p:spPr>
        <p:txBody>
          <a:bodyPr wrap="square">
            <a:spAutoFit/>
          </a:bodyPr>
          <a:lstStyle/>
          <a:p>
            <a:pPr>
              <a:spcAft>
                <a:spcPts val="900"/>
              </a:spcAft>
              <a:defRPr sz="1500" b="1">
                <a:solidFill>
                  <a:srgbClr val="3C726A"/>
                </a:solidFill>
                <a:latin typeface="Aptos"/>
              </a:defRPr>
            </a:pPr>
            <a:r>
              <a:t>01</a:t>
            </a:r>
          </a:p>
        </p:txBody>
      </p:sp>
      <p:sp>
        <p:nvSpPr>
          <p:cNvPr id="5" name="TextBox 4"/>
          <p:cNvSpPr txBox="1"/>
          <p:nvPr/>
        </p:nvSpPr>
        <p:spPr>
          <a:xfrm>
            <a:off x="1371600" y="2331720"/>
            <a:ext cx="9692640" cy="685800"/>
          </a:xfrm>
          <a:prstGeom prst="rect">
            <a:avLst/>
          </a:prstGeom>
          <a:noFill/>
        </p:spPr>
        <p:txBody>
          <a:bodyPr wrap="square">
            <a:spAutoFit/>
          </a:bodyPr>
          <a:lstStyle/>
          <a:p>
            <a:pPr>
              <a:spcAft>
                <a:spcPts val="900"/>
              </a:spcAft>
              <a:defRPr sz="2700" b="0">
                <a:solidFill>
                  <a:srgbClr val="24343B"/>
                </a:solidFill>
                <a:latin typeface="Aptos"/>
              </a:defRPr>
            </a:pPr>
            <a:r>
              <a:t>Live your life.</a:t>
            </a:r>
          </a:p>
        </p:txBody>
      </p:sp>
      <p:sp>
        <p:nvSpPr>
          <p:cNvPr id="6" name="TextBox 5"/>
          <p:cNvSpPr txBox="1"/>
          <p:nvPr/>
        </p:nvSpPr>
        <p:spPr>
          <a:xfrm>
            <a:off x="731520" y="3246120"/>
            <a:ext cx="548640" cy="457200"/>
          </a:xfrm>
          <a:prstGeom prst="rect">
            <a:avLst/>
          </a:prstGeom>
          <a:noFill/>
        </p:spPr>
        <p:txBody>
          <a:bodyPr wrap="square">
            <a:spAutoFit/>
          </a:bodyPr>
          <a:lstStyle/>
          <a:p>
            <a:pPr>
              <a:spcAft>
                <a:spcPts val="900"/>
              </a:spcAft>
              <a:defRPr sz="1500" b="1">
                <a:solidFill>
                  <a:srgbClr val="3C726A"/>
                </a:solidFill>
                <a:latin typeface="Aptos"/>
              </a:defRPr>
            </a:pPr>
            <a:r>
              <a:t>02</a:t>
            </a:r>
          </a:p>
        </p:txBody>
      </p:sp>
      <p:sp>
        <p:nvSpPr>
          <p:cNvPr id="7" name="TextBox 6"/>
          <p:cNvSpPr txBox="1"/>
          <p:nvPr/>
        </p:nvSpPr>
        <p:spPr>
          <a:xfrm>
            <a:off x="1371600" y="3154679"/>
            <a:ext cx="9692640" cy="685800"/>
          </a:xfrm>
          <a:prstGeom prst="rect">
            <a:avLst/>
          </a:prstGeom>
          <a:noFill/>
        </p:spPr>
        <p:txBody>
          <a:bodyPr wrap="square">
            <a:spAutoFit/>
          </a:bodyPr>
          <a:lstStyle/>
          <a:p>
            <a:pPr>
              <a:spcAft>
                <a:spcPts val="900"/>
              </a:spcAft>
              <a:defRPr sz="2700" b="0">
                <a:solidFill>
                  <a:srgbClr val="24343B"/>
                </a:solidFill>
                <a:latin typeface="Aptos"/>
              </a:defRPr>
            </a:pPr>
            <a:r>
              <a:t>Think carefully when it matters.</a:t>
            </a:r>
          </a:p>
        </p:txBody>
      </p:sp>
      <p:sp>
        <p:nvSpPr>
          <p:cNvPr id="8" name="TextBox 7"/>
          <p:cNvSpPr txBox="1"/>
          <p:nvPr/>
        </p:nvSpPr>
        <p:spPr>
          <a:xfrm>
            <a:off x="731520" y="4069080"/>
            <a:ext cx="548640" cy="457200"/>
          </a:xfrm>
          <a:prstGeom prst="rect">
            <a:avLst/>
          </a:prstGeom>
          <a:noFill/>
        </p:spPr>
        <p:txBody>
          <a:bodyPr wrap="square">
            <a:spAutoFit/>
          </a:bodyPr>
          <a:lstStyle/>
          <a:p>
            <a:pPr>
              <a:spcAft>
                <a:spcPts val="900"/>
              </a:spcAft>
              <a:defRPr sz="1500" b="1">
                <a:solidFill>
                  <a:srgbClr val="3C726A"/>
                </a:solidFill>
                <a:latin typeface="Aptos"/>
              </a:defRPr>
            </a:pPr>
            <a:r>
              <a:t>03</a:t>
            </a:r>
          </a:p>
        </p:txBody>
      </p:sp>
      <p:sp>
        <p:nvSpPr>
          <p:cNvPr id="9" name="TextBox 8"/>
          <p:cNvSpPr txBox="1"/>
          <p:nvPr/>
        </p:nvSpPr>
        <p:spPr>
          <a:xfrm>
            <a:off x="1371600" y="3977639"/>
            <a:ext cx="9692640" cy="685800"/>
          </a:xfrm>
          <a:prstGeom prst="rect">
            <a:avLst/>
          </a:prstGeom>
          <a:noFill/>
        </p:spPr>
        <p:txBody>
          <a:bodyPr wrap="square">
            <a:spAutoFit/>
          </a:bodyPr>
          <a:lstStyle/>
          <a:p>
            <a:pPr>
              <a:spcAft>
                <a:spcPts val="900"/>
              </a:spcAft>
              <a:defRPr sz="2700" b="0">
                <a:solidFill>
                  <a:srgbClr val="24343B"/>
                </a:solidFill>
                <a:latin typeface="Aptos"/>
              </a:defRPr>
            </a:pPr>
            <a:r>
              <a:t>Let others help you see more clearly.</a:t>
            </a:r>
          </a:p>
        </p:txBody>
      </p:sp>
      <p:sp>
        <p:nvSpPr>
          <p:cNvPr id="10" name="TextBox 9"/>
          <p:cNvSpPr txBox="1"/>
          <p:nvPr/>
        </p:nvSpPr>
        <p:spPr>
          <a:xfrm>
            <a:off x="731520" y="5166360"/>
            <a:ext cx="10698480" cy="822960"/>
          </a:xfrm>
          <a:prstGeom prst="rect">
            <a:avLst/>
          </a:prstGeom>
          <a:noFill/>
        </p:spPr>
        <p:txBody>
          <a:bodyPr wrap="square">
            <a:spAutoFit/>
          </a:bodyPr>
          <a:lstStyle/>
          <a:p>
            <a:pPr>
              <a:spcAft>
                <a:spcPts val="900"/>
              </a:spcAft>
              <a:defRPr sz="2300" b="1">
                <a:solidFill>
                  <a:srgbClr val="3C726A"/>
                </a:solidFill>
                <a:latin typeface="Aptos"/>
              </a:defRPr>
            </a:pPr>
            <a:r>
              <a:t>You don’t need a final definition of yourself</a:t>
            </a:r>
          </a:p>
          <a:p>
            <a:pPr>
              <a:spcAft>
                <a:spcPts val="900"/>
              </a:spcAft>
              <a:defRPr sz="2300" b="1">
                <a:solidFill>
                  <a:srgbClr val="3C726A"/>
                </a:solidFill>
                <a:latin typeface="Aptos"/>
              </a:defRPr>
            </a:pPr>
            <a:r>
              <a:t>to make choices that matter to you.</a:t>
            </a:r>
          </a:p>
        </p:txBody>
      </p:sp>
      <p:sp>
        <p:nvSpPr>
          <p:cNvPr id="11" name="TextBox 10"/>
          <p:cNvSpPr txBox="1"/>
          <p:nvPr/>
        </p:nvSpPr>
        <p:spPr>
          <a:xfrm>
            <a:off x="11064240" y="6419088"/>
            <a:ext cx="548640" cy="228600"/>
          </a:xfrm>
          <a:prstGeom prst="rect">
            <a:avLst/>
          </a:prstGeom>
          <a:noFill/>
        </p:spPr>
        <p:txBody>
          <a:bodyPr wrap="square">
            <a:spAutoFit/>
          </a:bodyPr>
          <a:lstStyle/>
          <a:p>
            <a:pPr>
              <a:spcAft>
                <a:spcPts val="900"/>
              </a:spcAft>
              <a:defRPr sz="1100" b="0">
                <a:solidFill>
                  <a:srgbClr val="627078"/>
                </a:solidFill>
                <a:latin typeface="Apto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640080"/>
          </a:xfrm>
          <a:prstGeom prst="rect">
            <a:avLst/>
          </a:prstGeom>
          <a:noFill/>
        </p:spPr>
        <p:txBody>
          <a:bodyPr wrap="square">
            <a:spAutoFit/>
          </a:bodyPr>
          <a:lstStyle/>
          <a:p>
            <a:pPr>
              <a:spcAft>
                <a:spcPts val="900"/>
              </a:spcAft>
              <a:defRPr sz="3200" b="1">
                <a:solidFill>
                  <a:srgbClr val="24343B"/>
                </a:solidFill>
                <a:latin typeface="Aptos"/>
              </a:defRPr>
            </a:pPr>
            <a:r>
              <a:t>References</a:t>
            </a:r>
          </a:p>
        </p:txBody>
      </p:sp>
      <p:sp>
        <p:nvSpPr>
          <p:cNvPr id="3" name="TextBox 2"/>
          <p:cNvSpPr txBox="1"/>
          <p:nvPr/>
        </p:nvSpPr>
        <p:spPr>
          <a:xfrm>
            <a:off x="731520" y="1463040"/>
            <a:ext cx="10698480" cy="365760"/>
          </a:xfrm>
          <a:prstGeom prst="rect">
            <a:avLst/>
          </a:prstGeom>
          <a:noFill/>
        </p:spPr>
        <p:txBody>
          <a:bodyPr wrap="square">
            <a:spAutoFit/>
          </a:bodyPr>
          <a:lstStyle/>
          <a:p>
            <a:pPr>
              <a:spcAft>
                <a:spcPts val="900"/>
              </a:spcAft>
              <a:defRPr sz="2100" b="1">
                <a:solidFill>
                  <a:srgbClr val="3C726A"/>
                </a:solidFill>
                <a:latin typeface="Aptos"/>
              </a:defRPr>
            </a:pPr>
            <a:r>
              <a:t>Research used for the chart</a:t>
            </a:r>
          </a:p>
        </p:txBody>
      </p:sp>
      <p:sp>
        <p:nvSpPr>
          <p:cNvPr id="4" name="TextBox 3"/>
          <p:cNvSpPr txBox="1"/>
          <p:nvPr/>
        </p:nvSpPr>
        <p:spPr>
          <a:xfrm>
            <a:off x="731520" y="1920240"/>
            <a:ext cx="10698480" cy="2011680"/>
          </a:xfrm>
          <a:prstGeom prst="rect">
            <a:avLst/>
          </a:prstGeom>
          <a:noFill/>
        </p:spPr>
        <p:txBody>
          <a:bodyPr wrap="square">
            <a:spAutoFit/>
          </a:bodyPr>
          <a:lstStyle/>
          <a:p>
            <a:pPr>
              <a:spcAft>
                <a:spcPts val="900"/>
              </a:spcAft>
              <a:defRPr sz="1800" b="0">
                <a:solidFill>
                  <a:srgbClr val="24343B"/>
                </a:solidFill>
                <a:latin typeface="Aptos"/>
              </a:defRPr>
            </a:pPr>
            <a:r>
              <a:t>Damian, R. I., Spengler, M., Sutu, A., &amp; Roberts, B. W. (2019).</a:t>
            </a:r>
          </a:p>
          <a:p>
            <a:pPr>
              <a:spcAft>
                <a:spcPts val="900"/>
              </a:spcAft>
              <a:defRPr sz="1800" b="0">
                <a:solidFill>
                  <a:srgbClr val="24343B"/>
                </a:solidFill>
                <a:latin typeface="Aptos"/>
              </a:defRPr>
            </a:pPr>
            <a:r>
              <a:t>Sixteen going on sixty-six: A longitudinal study of personality stability</a:t>
            </a:r>
          </a:p>
          <a:p>
            <a:pPr>
              <a:spcAft>
                <a:spcPts val="900"/>
              </a:spcAft>
              <a:defRPr sz="1800" b="0">
                <a:solidFill>
                  <a:srgbClr val="24343B"/>
                </a:solidFill>
                <a:latin typeface="Aptos"/>
              </a:defRPr>
            </a:pPr>
            <a:r>
              <a:t>and change across 50 years. Journal of Personality and Social Psychology,</a:t>
            </a:r>
          </a:p>
          <a:p>
            <a:pPr>
              <a:spcAft>
                <a:spcPts val="900"/>
              </a:spcAft>
              <a:defRPr sz="1800" b="0">
                <a:solidFill>
                  <a:srgbClr val="24343B"/>
                </a:solidFill>
                <a:latin typeface="Aptos"/>
              </a:defRPr>
            </a:pPr>
            <a:r>
              <a:t>117(3), 674–695. https://doi.org/10.1037/pspp0000210</a:t>
            </a:r>
          </a:p>
          <a:p>
            <a:pPr>
              <a:spcAft>
                <a:spcPts val="900"/>
              </a:spcAft>
              <a:defRPr sz="1800" b="0">
                <a:solidFill>
                  <a:srgbClr val="24343B"/>
                </a:solidFill>
                <a:latin typeface="Aptos"/>
              </a:defRPr>
            </a:pPr>
            <a:r>
              <a:t>Chart: selected rows from Table 7, p. 688; percentages are not MBTI results.</a:t>
            </a:r>
          </a:p>
        </p:txBody>
      </p:sp>
      <p:sp>
        <p:nvSpPr>
          <p:cNvPr id="5" name="TextBox 4"/>
          <p:cNvSpPr txBox="1"/>
          <p:nvPr/>
        </p:nvSpPr>
        <p:spPr>
          <a:xfrm>
            <a:off x="731520" y="4206240"/>
            <a:ext cx="10698480" cy="365760"/>
          </a:xfrm>
          <a:prstGeom prst="rect">
            <a:avLst/>
          </a:prstGeom>
          <a:noFill/>
        </p:spPr>
        <p:txBody>
          <a:bodyPr wrap="square">
            <a:spAutoFit/>
          </a:bodyPr>
          <a:lstStyle/>
          <a:p>
            <a:pPr>
              <a:spcAft>
                <a:spcPts val="900"/>
              </a:spcAft>
              <a:defRPr sz="2100" b="1">
                <a:solidFill>
                  <a:srgbClr val="3C726A"/>
                </a:solidFill>
                <a:latin typeface="Aptos"/>
              </a:defRPr>
            </a:pPr>
            <a:r>
              <a:t>Starting-point readings</a:t>
            </a:r>
          </a:p>
        </p:txBody>
      </p:sp>
      <p:sp>
        <p:nvSpPr>
          <p:cNvPr id="6" name="TextBox 5"/>
          <p:cNvSpPr txBox="1"/>
          <p:nvPr/>
        </p:nvSpPr>
        <p:spPr>
          <a:xfrm>
            <a:off x="731520" y="4663440"/>
            <a:ext cx="10698480" cy="2011680"/>
          </a:xfrm>
          <a:prstGeom prst="rect">
            <a:avLst/>
          </a:prstGeom>
          <a:noFill/>
        </p:spPr>
        <p:txBody>
          <a:bodyPr wrap="square">
            <a:spAutoFit/>
          </a:bodyPr>
          <a:lstStyle/>
          <a:p>
            <a:pPr>
              <a:spcAft>
                <a:spcPts val="900"/>
              </a:spcAft>
              <a:defRPr sz="1800" b="0">
                <a:solidFill>
                  <a:srgbClr val="24343B"/>
                </a:solidFill>
                <a:latin typeface="Aptos"/>
              </a:defRPr>
            </a:pPr>
            <a:r>
              <a:t>Sah, S. (2025, January 7). How to Say No and Mean It. Psychology Today.</a:t>
            </a:r>
          </a:p>
          <a:p>
            <a:pPr>
              <a:spcAft>
                <a:spcPts val="900"/>
              </a:spcAft>
              <a:defRPr sz="1800" b="0">
                <a:solidFill>
                  <a:srgbClr val="24343B"/>
                </a:solidFill>
                <a:latin typeface="Aptos"/>
              </a:defRPr>
            </a:pPr>
            <a:r>
              <a:t>Kam, K. (2024, November 7). Authenticity can protect mental health.</a:t>
            </a:r>
          </a:p>
          <a:p>
            <a:pPr>
              <a:spcAft>
                <a:spcPts val="900"/>
              </a:spcAft>
              <a:defRPr sz="1800" b="0">
                <a:solidFill>
                  <a:srgbClr val="24343B"/>
                </a:solidFill>
                <a:latin typeface="Aptos"/>
              </a:defRPr>
            </a:pPr>
            <a:r>
              <a:t>Here’s how to be authentic. The Washington Post.</a:t>
            </a:r>
          </a:p>
          <a:p>
            <a:pPr>
              <a:spcAft>
                <a:spcPts val="900"/>
              </a:spcAft>
              <a:defRPr sz="1800" b="0">
                <a:solidFill>
                  <a:srgbClr val="24343B"/>
                </a:solidFill>
                <a:latin typeface="Aptos"/>
              </a:defRPr>
            </a:pPr>
            <a:r>
              <a:t>Both readings were provided as course documents.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