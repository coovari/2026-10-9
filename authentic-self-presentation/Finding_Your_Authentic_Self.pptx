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57" r:id="rId4"/>
    <p:sldId id="259" r:id="rId5"/>
    <p:sldId id="260" r:id="rId6"/>
    <p:sldId id="264" r:id="rId15"/>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2" autoAdjust="0"/>
    <p:restoredTop sz="94679" autoAdjust="0"/>
  </p:normalViewPr>
  <p:slideViewPr>
    <p:cSldViewPr snapToGrid="0" snapToObjects="1">
      <p:cViewPr varScale="1">
        <p:scale>
          <a:sx n="150" d="100"/>
          <a:sy n="150" d="100"/>
        </p:scale>
        <p:origin x="456"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0"/>
    <c:plotArea>
      <c:layout/>
      <c:barChart>
        <c:barDir val="bar"/>
        <c:grouping val="stacked"/>
        <c:varyColors val="1"/>
        <c:ser>
          <c:idx val="0"/>
          <c:order val="0"/>
          <c:tx>
            <c:strRef>
              <c:f>Sheet1!$B$1</c:f>
              <c:strCache>
                <c:ptCount val="1"/>
                <c:pt idx="0">
                  <c:v>Decreased</c:v>
                </c:pt>
              </c:strCache>
            </c:strRef>
          </c:tx>
          <c:spPr>
            <a:solidFill>
              <a:srgbClr val="A7B7B1"/>
            </a:solidFill>
            <a:ln>
              <a:noFill/>
            </a:ln>
          </c:spPr>
          <c:invertIfNegative val="1"/>
          <c:cat>
            <c:strRef>
              <c:f>Sheet1!$A$2:$A$4</c:f>
              <c:strCache>
                <c:ptCount val="3"/>
                <c:pt idx="0">
                  <c:v>Calmness</c:v>
                </c:pt>
                <c:pt idx="1">
                  <c:v>Self-confidence</c:v>
                </c:pt>
                <c:pt idx="2">
                  <c:v>Sociability</c:v>
                </c:pt>
              </c:strCache>
            </c:strRef>
          </c:cat>
          <c:val>
            <c:numRef>
              <c:f>Sheet1!$B$2:$B$4</c:f>
              <c:numCache>
                <c:formatCode>General</c:formatCode>
                <c:ptCount val="3"/>
                <c:pt idx="0">
                  <c:v>3.4</c:v>
                </c:pt>
                <c:pt idx="1">
                  <c:v>10.199999999999999</c:v>
                </c:pt>
                <c:pt idx="2">
                  <c:v>12.3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1E4-4379-98F4-FCDE45F92B0B}"/>
            </c:ext>
          </c:extLst>
        </c:ser>
        <c:ser>
          <c:idx val="1"/>
          <c:order val="1"/>
          <c:tx>
            <c:strRef>
              <c:f>Sheet1!$C$1</c:f>
              <c:strCache>
                <c:ptCount val="1"/>
                <c:pt idx="0">
                  <c:v>No reliable change</c:v>
                </c:pt>
              </c:strCache>
            </c:strRef>
          </c:tx>
          <c:spPr>
            <a:solidFill>
              <a:srgbClr val="DFE5E0"/>
            </a:solidFill>
            <a:ln>
              <a:noFill/>
            </a:ln>
          </c:spPr>
          <c:invertIfNegative val="1"/>
          <c:cat>
            <c:strRef>
              <c:f>Sheet1!$A$2:$A$4</c:f>
              <c:strCache>
                <c:ptCount val="3"/>
                <c:pt idx="0">
                  <c:v>Calmness</c:v>
                </c:pt>
                <c:pt idx="1">
                  <c:v>Self-confidence</c:v>
                </c:pt>
                <c:pt idx="2">
                  <c:v>Sociability</c:v>
                </c:pt>
              </c:strCache>
            </c:strRef>
          </c:cat>
          <c:val>
            <c:numRef>
              <c:f>Sheet1!$C$2:$C$4</c:f>
              <c:numCache>
                <c:formatCode>General</c:formatCode>
                <c:ptCount val="3"/>
                <c:pt idx="0">
                  <c:v>54.7</c:v>
                </c:pt>
                <c:pt idx="1">
                  <c:v>52.5</c:v>
                </c:pt>
                <c:pt idx="2">
                  <c:v>66.3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1E4-4379-98F4-FCDE45F92B0B}"/>
            </c:ext>
          </c:extLst>
        </c:ser>
        <c:ser>
          <c:idx val="2"/>
          <c:order val="2"/>
          <c:tx>
            <c:strRef>
              <c:f>Sheet1!$D$1</c:f>
              <c:strCache>
                <c:ptCount val="1"/>
                <c:pt idx="0">
                  <c:v>Increased</c:v>
                </c:pt>
              </c:strCache>
            </c:strRef>
          </c:tx>
          <c:spPr>
            <a:solidFill>
              <a:srgbClr val="39796F"/>
            </a:solidFill>
            <a:ln>
              <a:noFill/>
            </a:ln>
          </c:spPr>
          <c:invertIfNegative val="1"/>
          <c:cat>
            <c:strRef>
              <c:f>Sheet1!$A$2:$A$4</c:f>
              <c:strCache>
                <c:ptCount val="3"/>
                <c:pt idx="0">
                  <c:v>Calmness</c:v>
                </c:pt>
                <c:pt idx="1">
                  <c:v>Self-confidence</c:v>
                </c:pt>
                <c:pt idx="2">
                  <c:v>Sociability</c:v>
                </c:pt>
              </c:strCache>
            </c:strRef>
          </c:cat>
          <c:val>
            <c:numRef>
              <c:f>Sheet1!$D$2:$D$4</c:f>
              <c:numCache>
                <c:formatCode>General</c:formatCode>
                <c:ptCount val="3"/>
                <c:pt idx="0">
                  <c:v>41.9</c:v>
                </c:pt>
                <c:pt idx="1">
                  <c:v>37.299999999999997</c:v>
                </c:pt>
                <c:pt idx="2">
                  <c:v>21.4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1E4-4379-98F4-FCDE45F92B0B}"/>
            </c:ext>
          </c:extLst>
        </c:ser>
        <c:dLbls>
          <c:showLegendKey val="0"/>
          <c:showVal val="0"/>
          <c:showCatName val="0"/>
          <c:showSerName val="0"/>
          <c:showPercent val="0"/>
          <c:showBubbleSize val="0"/>
        </c:dLbls>
        <c:gapWidth val="65"/>
        <c:overlap val="10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1600"/>
            </a:pPr>
            <a:endParaRPr lang="zh-CN"/>
          </a:p>
        </c:txPr>
        <c:crossAx val="-2113994440"/>
        <c:crosses val="autoZero"/>
        <c:auto val="1"/>
        <c:lblAlgn val="ctr"/>
        <c:lblOffset val="100"/>
        <c:noMultiLvlLbl val="0"/>
      </c:catAx>
      <c:valAx>
        <c:axId val="-2113994440"/>
        <c:scaling>
          <c:orientation val="minMax"/>
          <c:max val="100"/>
          <c:min val="0"/>
        </c:scaling>
        <c:delete val="0"/>
        <c:axPos val="t"/>
        <c:majorGridlines/>
        <c:numFmt formatCode="0&quot;%&quot;" sourceLinked="0"/>
        <c:majorTickMark val="out"/>
        <c:minorTickMark val="none"/>
        <c:tickLblPos val="nextTo"/>
        <c:txPr>
          <a:bodyPr/>
          <a:lstStyle/>
          <a:p>
            <a:pPr>
              <a:defRPr sz="1100"/>
            </a:pPr>
            <a:endParaRPr lang="zh-CN"/>
          </a:p>
        </c:txPr>
        <c:crossAx val="-2068027336"/>
        <c:crosses val="autoZero"/>
        <c:crossBetween val="between"/>
        <c:majorUnit val="25"/>
      </c:valAx>
    </c:plotArea>
    <c:legend>
      <c:legendPos val="b"/>
      <c:overlay val="0"/>
      <c:txPr>
        <a:bodyPr/>
        <a:lstStyle/>
        <a:p>
          <a:pPr>
            <a:defRPr sz="1200"/>
          </a:pPr>
          <a:endParaRPr lang="zh-CN"/>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626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开场：问 MBTI → 停一下 → 引出自己的问题。</a:t>
            </a:r>
          </a:p>
          <a:p>
            <a:endParaRPr/>
          </a:p>
          <a:p>
            <a:r>
              <a:t>Hi everyone. What’s your MBTI? [Pause] And do those four letters really tell us who you are? The two readings made me think about being true to ourselves. But today, I want to ask a different question: do we need to try so hard to find our authentic self?</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转折：以前觉得寻找自己很重要 → 现在觉得不必一直纠结。</a:t>
            </a:r>
          </a:p>
          <a:p>
            <a:endParaRPr/>
          </a:p>
          <a:p>
            <a:r>
              <a:t>I used to think finding my true self was very important. Recently, I changed my view. Maybe we don’t need to keep checking whether everything we do is “the real me.” We can live a little more freely, and think carefully when something important comes along.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目录：为什么少纠结 → 标签不完整 → 人会变化 → 怎么做。简单带过，不展开。</a:t>
            </a:r>
          </a:p>
          <a:p>
            <a:endParaRPr/>
          </a:p>
          <a:p>
            <a:r>
              <a:t>Here is my outline: why worry less? We are more than a label, and we change. Then, what can we 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理由一：内向也能表达，外向也想独处 → 标签只描述一部分。</a:t>
            </a:r>
          </a:p>
          <a:p>
            <a:endParaRPr/>
          </a:p>
          <a:p>
            <a:r>
              <a:t>First, we are more complicated than a label. An introvert can enjoy speaking up. An extrovert can want a quiet evening alone. Neither has to be pretending. Labels can help us describe ourselves. But labels don’t have to decide what we can do.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理由二：看图 → 只讲 calmness，约 42% 更平静 → 人格有稳定也有变化。</a:t>
            </a:r>
          </a:p>
          <a:p>
            <a:endParaRPr/>
          </a:p>
          <a:p>
            <a:r>
              <a:t>Second, we change. Researchers compared the personalities of 1,795 people in adolescence and fifty years later. This chart shows three of the measured traits. About forty-two percent became calmer. Some stayed similar, while others changed. Today’s description may not be the final 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做法：问自己想要什么 → 不急着决定 → 听取不同意见，自己选择。</a:t>
            </a:r>
          </a:p>
          <a:p/>
          <a:p>
            <a:r>
              <a:t>So, what can we do? When something matters, ask yourself: “What do I really want?” Take your time. Think before you decide. You can also ask other people for help. Listen to different views. The choice is yours. Finding yourself doesn’t mean doing everything alone.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结尾：MBTI → 只是你的一部分 → 好好生活 → 重要时刻思考 → 听意见、自己选 → 最后一句。</a:t>
            </a:r>
          </a:p>
          <a:p/>
          <a:p>
            <a:r>
              <a:t>So, what’s your MBTI? Your type is only part of your story. You don’t need to figure yourself out once and for all. Live your life. When something matters, take time to consider what you want. Listen to others, and make your own choice. You don’t need a final definition of yourself to make choices that matter to you. Thank you.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参考文献页不用讲。图表根据 Table 7 重绘。研究支持人格既有稳定性也会变化，不是 MBTI 研究。</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小总结：人很复杂 → 人也会变化 → 不必急着找固定答案。</a:t>
            </a:r>
          </a:p>
          <a:p/>
          <a:p>
            <a:r>
              <a:t>So, why worry less? We are complex, and we can change. One label cannot tell the whole story. We don’t need a fixed answer to “Who am 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058400" cy="274320"/>
          </a:xfrm>
          <a:prstGeom prst="rect">
            <a:avLst/>
          </a:prstGeom>
          <a:noFill/>
        </p:spPr>
        <p:txBody>
          <a:bodyPr wrap="square" lIns="18288" t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28600"/>
          </a:xfrm>
          <a:prstGeom prst="rect">
            <a:avLst/>
          </a:prstGeom>
          <a:noFill/>
        </p:spPr>
        <p:txBody>
          <a:bodyPr wrap="square" lIns="18288" tIns="18288" rIns="18288">
            <a:spAutoFit/>
          </a:bodyPr>
          <a:lstStyle/>
          <a:p>
            <a:pPr>
              <a:defRPr sz="1000" b="0">
                <a:solidFill>
                  <a:srgbClr val="637575"/>
                </a:solidFill>
                <a:latin typeface="Aptos"/>
              </a:defRPr>
            </a:pPr>
            <a:r>
              <a:t>A QUESTION</a:t>
            </a:r>
          </a:p>
        </p:txBody>
      </p:sp>
      <p:sp>
        <p:nvSpPr>
          <p:cNvPr id="5" name="TextBox 4"/>
          <p:cNvSpPr txBox="1"/>
          <p:nvPr/>
        </p:nvSpPr>
        <p:spPr>
          <a:xfrm>
            <a:off x="10972800" y="6400800"/>
            <a:ext cx="594360" cy="274320"/>
          </a:xfrm>
          <a:prstGeom prst="rect">
            <a:avLst/>
          </a:prstGeom>
          <a:noFill/>
        </p:spPr>
        <p:txBody>
          <a:bodyPr wrap="square" lIns="18288" tIns="18288" rIns="18288">
            <a:spAutoFit/>
          </a:bodyPr>
          <a:lstStyle/>
          <a:p>
            <a:pPr>
              <a:defRPr sz="1200" b="1">
                <a:solidFill>
                  <a:srgbClr val="39796F"/>
                </a:solidFill>
                <a:latin typeface="Aptos"/>
              </a:defRPr>
            </a:pPr>
            <a:r>
              <a:t>01</a:t>
            </a:r>
          </a:p>
        </p:txBody>
      </p:sp>
      <p:sp>
        <p:nvSpPr>
          <p:cNvPr id="6" name="Rectangle 5"/>
          <p:cNvSpPr/>
          <p:nvPr/>
        </p:nvSpPr>
        <p:spPr>
          <a:xfrm>
            <a:off x="621792" y="6172200"/>
            <a:ext cx="210312" cy="32004"/>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99616"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92224"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8483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7744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005840"/>
            <a:ext cx="7315200" cy="1554480"/>
          </a:xfrm>
          <a:prstGeom prst="rect">
            <a:avLst/>
          </a:prstGeom>
          <a:noFill/>
        </p:spPr>
        <p:txBody>
          <a:bodyPr wrap="square" lIns="18288" tIns="18288" rIns="18288">
            <a:spAutoFit/>
          </a:bodyPr>
          <a:lstStyle/>
          <a:p>
            <a:pPr>
              <a:defRPr sz="4300" b="1">
                <a:solidFill>
                  <a:srgbClr val="223B40"/>
                </a:solidFill>
                <a:latin typeface="Aptos"/>
              </a:defRPr>
            </a:pPr>
            <a:r>
              <a:t>Finding Your Authentic Self</a:t>
            </a:r>
          </a:p>
          <a:p>
            <a:pPr>
              <a:defRPr sz="4300" b="1">
                <a:solidFill>
                  <a:srgbClr val="223B40"/>
                </a:solidFill>
                <a:latin typeface="Aptos"/>
              </a:defRPr>
            </a:pPr>
            <a:r>
              <a:t>or Not?</a:t>
            </a:r>
          </a:p>
        </p:txBody>
      </p:sp>
      <p:sp>
        <p:nvSpPr>
          <p:cNvPr id="14" name="Rounded Rectangle 13"/>
          <p:cNvSpPr/>
          <p:nvPr/>
        </p:nvSpPr>
        <p:spPr>
          <a:xfrm>
            <a:off x="9144000" y="1143000"/>
            <a:ext cx="2148840" cy="2148840"/>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55480" y="1417320"/>
            <a:ext cx="1463040" cy="822960"/>
          </a:xfrm>
          <a:prstGeom prst="rect">
            <a:avLst/>
          </a:prstGeom>
          <a:noFill/>
        </p:spPr>
        <p:txBody>
          <a:bodyPr wrap="square" lIns="18288" tIns="18288" rIns="18288">
            <a:spAutoFit/>
          </a:bodyPr>
          <a:lstStyle/>
          <a:p>
            <a:pPr>
              <a:defRPr sz="2600" b="1">
                <a:solidFill>
                  <a:srgbClr val="39796F"/>
                </a:solidFill>
                <a:latin typeface="Aptos"/>
              </a:defRPr>
            </a:pPr>
            <a:r>
              <a:t>MBTI</a:t>
            </a:r>
          </a:p>
        </p:txBody>
      </p:sp>
      <p:sp>
        <p:nvSpPr>
          <p:cNvPr id="16" name="TextBox 15"/>
          <p:cNvSpPr txBox="1"/>
          <p:nvPr/>
        </p:nvSpPr>
        <p:spPr>
          <a:xfrm>
            <a:off x="9784080" y="2029968"/>
            <a:ext cx="1188720" cy="914400"/>
          </a:xfrm>
          <a:prstGeom prst="rect">
            <a:avLst/>
          </a:prstGeom>
          <a:noFill/>
        </p:spPr>
        <p:txBody>
          <a:bodyPr wrap="square" lIns="18288" tIns="18288" rIns="18288">
            <a:spAutoFit/>
          </a:bodyPr>
          <a:lstStyle/>
          <a:p>
            <a:pPr>
              <a:defRPr sz="5800" b="1">
                <a:solidFill>
                  <a:srgbClr val="39796F"/>
                </a:solidFill>
                <a:latin typeface="Aptos"/>
              </a:defRPr>
            </a:pPr>
            <a:r>
              <a:t>?</a:t>
            </a:r>
          </a:p>
        </p:txBody>
      </p:sp>
      <p:sp>
        <p:nvSpPr>
          <p:cNvPr id="17" name="TextBox 16"/>
          <p:cNvSpPr txBox="1"/>
          <p:nvPr/>
        </p:nvSpPr>
        <p:spPr>
          <a:xfrm>
            <a:off x="731520" y="3200400"/>
            <a:ext cx="10515600" cy="594360"/>
          </a:xfrm>
          <a:prstGeom prst="rect">
            <a:avLst/>
          </a:prstGeom>
          <a:noFill/>
        </p:spPr>
        <p:txBody>
          <a:bodyPr wrap="square" lIns="18288" tIns="18288" rIns="18288">
            <a:spAutoFit/>
          </a:bodyPr>
          <a:lstStyle/>
          <a:p>
            <a:pPr>
              <a:defRPr sz="2700" b="1">
                <a:solidFill>
                  <a:srgbClr val="39796F"/>
                </a:solidFill>
                <a:latin typeface="Aptos"/>
              </a:defRPr>
            </a:pPr>
            <a:r>
              <a:rPr dirty="0"/>
              <a:t>What’s your MBTI?</a:t>
            </a:r>
          </a:p>
        </p:txBody>
      </p:sp>
      <p:sp>
        <p:nvSpPr>
          <p:cNvPr id="18" name="TextBox 17"/>
          <p:cNvSpPr txBox="1"/>
          <p:nvPr/>
        </p:nvSpPr>
        <p:spPr>
          <a:xfrm>
            <a:off x="731520" y="3913632"/>
            <a:ext cx="10515600" cy="594360"/>
          </a:xfrm>
          <a:prstGeom prst="rect">
            <a:avLst/>
          </a:prstGeom>
          <a:noFill/>
        </p:spPr>
        <p:txBody>
          <a:bodyPr wrap="square" lIns="18288" tIns="18288" rIns="18288">
            <a:spAutoFit/>
          </a:bodyPr>
          <a:lstStyle/>
          <a:p>
            <a:pPr>
              <a:defRPr sz="2300" b="0">
                <a:solidFill>
                  <a:srgbClr val="223B40"/>
                </a:solidFill>
                <a:latin typeface="Aptos"/>
              </a:defRPr>
            </a:pPr>
            <a:r>
              <a:rPr dirty="0"/>
              <a:t>Do those four letters really tell us who you are?</a:t>
            </a:r>
          </a:p>
        </p:txBody>
      </p:sp>
      <p:sp>
        <p:nvSpPr>
          <p:cNvPr id="19" name="TextBox 18"/>
          <p:cNvSpPr txBox="1"/>
          <p:nvPr/>
        </p:nvSpPr>
        <p:spPr>
          <a:xfrm>
            <a:off x="731520" y="4626864"/>
            <a:ext cx="10515600" cy="594360"/>
          </a:xfrm>
          <a:prstGeom prst="rect">
            <a:avLst/>
          </a:prstGeom>
          <a:noFill/>
        </p:spPr>
        <p:txBody>
          <a:bodyPr wrap="square" lIns="18288" tIns="18288" rIns="18288">
            <a:spAutoFit/>
          </a:bodyPr>
          <a:lstStyle/>
          <a:p>
            <a:pPr>
              <a:defRPr sz="2300" b="0">
                <a:solidFill>
                  <a:srgbClr val="223B40"/>
                </a:solidFill>
                <a:latin typeface="Aptos"/>
              </a:defRPr>
            </a:pPr>
            <a:r>
              <a:t>Do we need to try so hard to find our authentic self?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058400" cy="274320"/>
          </a:xfrm>
          <a:prstGeom prst="rect">
            <a:avLst/>
          </a:prstGeom>
          <a:noFill/>
        </p:spPr>
        <p:txBody>
          <a:bodyPr wrap="square" lIns="18288" t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28600"/>
          </a:xfrm>
          <a:prstGeom prst="rect">
            <a:avLst/>
          </a:prstGeom>
          <a:noFill/>
        </p:spPr>
        <p:txBody>
          <a:bodyPr wrap="square" lIns="18288" tIns="18288" rIns="18288">
            <a:spAutoFit/>
          </a:bodyPr>
          <a:lstStyle/>
          <a:p>
            <a:pPr>
              <a:defRPr sz="1000" b="0">
                <a:solidFill>
                  <a:srgbClr val="637575"/>
                </a:solidFill>
                <a:latin typeface="Aptos"/>
              </a:defRPr>
            </a:pPr>
            <a:r>
              <a:t>A DIFFERENT VIEW</a:t>
            </a:r>
          </a:p>
        </p:txBody>
      </p:sp>
      <p:sp>
        <p:nvSpPr>
          <p:cNvPr id="5" name="TextBox 4"/>
          <p:cNvSpPr txBox="1"/>
          <p:nvPr/>
        </p:nvSpPr>
        <p:spPr>
          <a:xfrm>
            <a:off x="10972800" y="6400800"/>
            <a:ext cx="594360" cy="274320"/>
          </a:xfrm>
          <a:prstGeom prst="rect">
            <a:avLst/>
          </a:prstGeom>
          <a:noFill/>
        </p:spPr>
        <p:txBody>
          <a:bodyPr wrap="square" lIns="18288" tIns="18288" rIns="18288">
            <a:spAutoFit/>
          </a:bodyPr>
          <a:lstStyle/>
          <a:p>
            <a:pPr>
              <a:defRPr sz="1200" b="1">
                <a:solidFill>
                  <a:srgbClr val="39796F"/>
                </a:solidFill>
                <a:latin typeface="Aptos"/>
              </a:defRPr>
            </a:pPr>
            <a:r>
              <a:t>02</a:t>
            </a:r>
          </a:p>
        </p:txBody>
      </p:sp>
      <p:sp>
        <p:nvSpPr>
          <p:cNvPr id="6" name="Rectangle 5"/>
          <p:cNvSpPr/>
          <p:nvPr/>
        </p:nvSpPr>
        <p:spPr>
          <a:xfrm>
            <a:off x="62179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6172200"/>
            <a:ext cx="210312" cy="32004"/>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99616"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92224"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8483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7744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941832"/>
            <a:ext cx="10881360" cy="731520"/>
          </a:xfrm>
          <a:prstGeom prst="rect">
            <a:avLst/>
          </a:prstGeom>
          <a:noFill/>
        </p:spPr>
        <p:txBody>
          <a:bodyPr wrap="square" lIns="18288" tIns="18288" rIns="18288">
            <a:spAutoFit/>
          </a:bodyPr>
          <a:lstStyle/>
          <a:p>
            <a:pPr>
              <a:defRPr sz="3500" b="1">
                <a:solidFill>
                  <a:srgbClr val="223B40"/>
                </a:solidFill>
                <a:latin typeface="Aptos"/>
              </a:defRPr>
            </a:pPr>
            <a:r>
              <a:rPr dirty="0"/>
              <a:t>Do we need to search so hard?</a:t>
            </a:r>
          </a:p>
        </p:txBody>
      </p:sp>
      <p:sp>
        <p:nvSpPr>
          <p:cNvPr id="14" name="Rounded Rectangle 13"/>
          <p:cNvSpPr/>
          <p:nvPr/>
        </p:nvSpPr>
        <p:spPr>
          <a:xfrm>
            <a:off x="731520" y="2194560"/>
            <a:ext cx="5166360" cy="1965960"/>
          </a:xfrm>
          <a:prstGeom prst="roundRect">
            <a:avLst>
              <a:gd name="adj" fmla="val 10000"/>
            </a:avLst>
          </a:prstGeom>
          <a:solidFill>
            <a:srgbClr val="E6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2487168"/>
            <a:ext cx="4572000" cy="365760"/>
          </a:xfrm>
          <a:prstGeom prst="rect">
            <a:avLst/>
          </a:prstGeom>
          <a:noFill/>
        </p:spPr>
        <p:txBody>
          <a:bodyPr wrap="square" lIns="18288" tIns="18288" rIns="18288">
            <a:spAutoFit/>
          </a:bodyPr>
          <a:lstStyle/>
          <a:p>
            <a:pPr>
              <a:defRPr sz="1300" b="1">
                <a:solidFill>
                  <a:srgbClr val="39796F"/>
                </a:solidFill>
                <a:latin typeface="Aptos"/>
              </a:defRPr>
            </a:pPr>
            <a:r>
              <a:rPr dirty="0"/>
              <a:t>I USED TO THINK</a:t>
            </a:r>
          </a:p>
        </p:txBody>
      </p:sp>
      <p:sp>
        <p:nvSpPr>
          <p:cNvPr id="16" name="TextBox 15"/>
          <p:cNvSpPr txBox="1"/>
          <p:nvPr/>
        </p:nvSpPr>
        <p:spPr>
          <a:xfrm>
            <a:off x="1005840" y="3017520"/>
            <a:ext cx="4526280" cy="1005840"/>
          </a:xfrm>
          <a:prstGeom prst="rect">
            <a:avLst/>
          </a:prstGeom>
          <a:noFill/>
        </p:spPr>
        <p:txBody>
          <a:bodyPr wrap="square" lIns="18288" tIns="18288" rIns="18288">
            <a:spAutoFit/>
          </a:bodyPr>
          <a:lstStyle/>
          <a:p>
            <a:pPr>
              <a:defRPr sz="2700" b="1">
                <a:solidFill>
                  <a:srgbClr val="223B40"/>
                </a:solidFill>
                <a:latin typeface="Aptos"/>
              </a:defRPr>
            </a:pPr>
            <a:r>
              <a:t>Finding my true self was very important.</a:t>
            </a:r>
          </a:p>
        </p:txBody>
      </p:sp>
      <p:sp>
        <p:nvSpPr>
          <p:cNvPr id="17" name="Rounded Rectangle 16"/>
          <p:cNvSpPr/>
          <p:nvPr/>
        </p:nvSpPr>
        <p:spPr>
          <a:xfrm>
            <a:off x="6217920" y="2194560"/>
            <a:ext cx="5166360" cy="1965960"/>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2487168"/>
            <a:ext cx="4572000" cy="365760"/>
          </a:xfrm>
          <a:prstGeom prst="rect">
            <a:avLst/>
          </a:prstGeom>
          <a:noFill/>
        </p:spPr>
        <p:txBody>
          <a:bodyPr wrap="square" lIns="18288" tIns="18288" rIns="18288">
            <a:spAutoFit/>
          </a:bodyPr>
          <a:lstStyle/>
          <a:p>
            <a:pPr>
              <a:defRPr sz="1300" b="1">
                <a:solidFill>
                  <a:srgbClr val="39796F"/>
                </a:solidFill>
                <a:latin typeface="Aptos"/>
              </a:defRPr>
            </a:pPr>
            <a:r>
              <a:t>NOW I THINK</a:t>
            </a:r>
          </a:p>
        </p:txBody>
      </p:sp>
      <p:sp>
        <p:nvSpPr>
          <p:cNvPr id="19" name="TextBox 18"/>
          <p:cNvSpPr txBox="1"/>
          <p:nvPr/>
        </p:nvSpPr>
        <p:spPr>
          <a:xfrm>
            <a:off x="6492240" y="3017520"/>
            <a:ext cx="4526280" cy="1005840"/>
          </a:xfrm>
          <a:prstGeom prst="rect">
            <a:avLst/>
          </a:prstGeom>
          <a:noFill/>
        </p:spPr>
        <p:txBody>
          <a:bodyPr wrap="square" lIns="18288" tIns="18288" rIns="18288">
            <a:spAutoFit/>
          </a:bodyPr>
          <a:lstStyle/>
          <a:p>
            <a:pPr>
              <a:defRPr sz="2700" b="1">
                <a:solidFill>
                  <a:srgbClr val="223B40"/>
                </a:solidFill>
                <a:latin typeface="Aptos"/>
              </a:defRPr>
            </a:pPr>
            <a:r>
              <a:t>Recently, I changed my view.</a:t>
            </a:r>
          </a:p>
        </p:txBody>
      </p:sp>
      <p:sp>
        <p:nvSpPr>
          <p:cNvPr id="20" name="Rounded Rectangle 19"/>
          <p:cNvSpPr/>
          <p:nvPr/>
        </p:nvSpPr>
        <p:spPr>
          <a:xfrm>
            <a:off x="731520" y="4617720"/>
            <a:ext cx="10652760" cy="822960"/>
          </a:xfrm>
          <a:prstGeom prst="roundRect">
            <a:avLst>
              <a:gd name="adj" fmla="val 10000"/>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4800600"/>
            <a:ext cx="10058400" cy="502920"/>
          </a:xfrm>
          <a:prstGeom prst="rect">
            <a:avLst/>
          </a:prstGeom>
          <a:noFill/>
        </p:spPr>
        <p:txBody>
          <a:bodyPr wrap="square" lIns="18288" tIns="18288" rIns="18288">
            <a:spAutoFit/>
          </a:bodyPr>
          <a:lstStyle/>
          <a:p>
            <a:pPr>
              <a:defRPr sz="2700" b="1">
                <a:solidFill>
                  <a:srgbClr val="FFFFFF"/>
                </a:solidFill>
                <a:latin typeface="Aptos"/>
              </a:defRPr>
            </a:pPr>
            <a:r>
              <a:rPr dirty="0"/>
              <a:t>We can live a little more freely.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058400" cy="274320"/>
          </a:xfrm>
          <a:prstGeom prst="rect">
            <a:avLst/>
          </a:prstGeom>
          <a:noFill/>
        </p:spPr>
        <p:txBody>
          <a:bodyPr wrap="square" lIns="18288" t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28600"/>
          </a:xfrm>
          <a:prstGeom prst="rect">
            <a:avLst/>
          </a:prstGeom>
          <a:noFill/>
        </p:spPr>
        <p:txBody>
          <a:bodyPr wrap="square" lIns="18288" tIns="18288" rIns="18288">
            <a:spAutoFit/>
          </a:bodyPr>
          <a:lstStyle/>
          <a:p>
            <a:pPr>
              <a:defRPr sz="1000" b="0">
                <a:solidFill>
                  <a:srgbClr val="637575"/>
                </a:solidFill>
                <a:latin typeface="Aptos"/>
              </a:defRPr>
            </a:pPr>
            <a:r>
              <a:t>OUTLINE</a:t>
            </a:r>
          </a:p>
        </p:txBody>
      </p:sp>
      <p:sp>
        <p:nvSpPr>
          <p:cNvPr id="5" name="TextBox 4"/>
          <p:cNvSpPr txBox="1"/>
          <p:nvPr/>
        </p:nvSpPr>
        <p:spPr>
          <a:xfrm>
            <a:off x="10972800" y="6400800"/>
            <a:ext cx="594360" cy="274320"/>
          </a:xfrm>
          <a:prstGeom prst="rect">
            <a:avLst/>
          </a:prstGeom>
          <a:noFill/>
        </p:spPr>
        <p:txBody>
          <a:bodyPr wrap="square" lIns="18288" tIns="18288" rIns="18288">
            <a:spAutoFit/>
          </a:bodyPr>
          <a:lstStyle/>
          <a:p>
            <a:pPr>
              <a:defRPr sz="1200" b="1">
                <a:solidFill>
                  <a:srgbClr val="39796F"/>
                </a:solidFill>
                <a:latin typeface="Aptos"/>
              </a:defRPr>
            </a:pPr>
            <a:r>
              <a:t>03</a:t>
            </a:r>
          </a:p>
        </p:txBody>
      </p:sp>
      <p:sp>
        <p:nvSpPr>
          <p:cNvPr id="6" name="Rectangle 5"/>
          <p:cNvSpPr/>
          <p:nvPr/>
        </p:nvSpPr>
        <p:spPr>
          <a:xfrm>
            <a:off x="62179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6172200"/>
            <a:ext cx="210312" cy="32004"/>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99616"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92224"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8483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7744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005840"/>
            <a:ext cx="10789920" cy="640080"/>
          </a:xfrm>
          <a:prstGeom prst="rect">
            <a:avLst/>
          </a:prstGeom>
          <a:noFill/>
        </p:spPr>
        <p:txBody>
          <a:bodyPr wrap="square" lIns="18288" tIns="18288" rIns="18288">
            <a:spAutoFit/>
          </a:bodyPr>
          <a:lstStyle/>
          <a:p>
            <a:pPr>
              <a:defRPr sz="3600" b="1">
                <a:solidFill>
                  <a:srgbClr val="223B40"/>
                </a:solidFill>
                <a:latin typeface="Aptos"/>
              </a:defRPr>
            </a:pPr>
            <a:r>
              <a:t>Today’s outline</a:t>
            </a:r>
          </a:p>
        </p:txBody>
      </p:sp>
      <p:sp>
        <p:nvSpPr>
          <p:cNvPr id="14" name="Rounded Rectangle 13"/>
          <p:cNvSpPr/>
          <p:nvPr/>
        </p:nvSpPr>
        <p:spPr>
          <a:xfrm>
            <a:off x="731520" y="2057400"/>
            <a:ext cx="5166360" cy="1261872"/>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2221992"/>
            <a:ext cx="640080" cy="411480"/>
          </a:xfrm>
          <a:prstGeom prst="rect">
            <a:avLst/>
          </a:prstGeom>
          <a:noFill/>
        </p:spPr>
        <p:txBody>
          <a:bodyPr wrap="square" lIns="18288" tIns="18288" rIns="18288">
            <a:spAutoFit/>
          </a:bodyPr>
          <a:lstStyle/>
          <a:p>
            <a:pPr>
              <a:defRPr sz="2200" b="1">
                <a:solidFill>
                  <a:srgbClr val="39796F"/>
                </a:solidFill>
                <a:latin typeface="Aptos"/>
              </a:defRPr>
            </a:pPr>
            <a:r>
              <a:t>01</a:t>
            </a:r>
          </a:p>
        </p:txBody>
      </p:sp>
      <p:sp>
        <p:nvSpPr>
          <p:cNvPr id="16" name="TextBox 15"/>
          <p:cNvSpPr txBox="1"/>
          <p:nvPr/>
        </p:nvSpPr>
        <p:spPr>
          <a:xfrm>
            <a:off x="1645920" y="2258568"/>
            <a:ext cx="3977639" cy="868680"/>
          </a:xfrm>
          <a:prstGeom prst="rect">
            <a:avLst/>
          </a:prstGeom>
          <a:noFill/>
        </p:spPr>
        <p:txBody>
          <a:bodyPr wrap="square" lIns="18288" tIns="18288" rIns="18288">
            <a:spAutoFit/>
          </a:bodyPr>
          <a:lstStyle/>
          <a:p>
            <a:pPr>
              <a:defRPr sz="2500" b="1">
                <a:solidFill>
                  <a:srgbClr val="223B40"/>
                </a:solidFill>
                <a:latin typeface="Aptos"/>
              </a:defRPr>
            </a:pPr>
            <a:r>
              <a:t>Why worry less?</a:t>
            </a:r>
          </a:p>
        </p:txBody>
      </p:sp>
      <p:sp>
        <p:nvSpPr>
          <p:cNvPr id="17" name="Rounded Rectangle 16"/>
          <p:cNvSpPr/>
          <p:nvPr/>
        </p:nvSpPr>
        <p:spPr>
          <a:xfrm>
            <a:off x="6217920" y="2057400"/>
            <a:ext cx="5166360" cy="1261872"/>
          </a:xfrm>
          <a:prstGeom prst="roundRect">
            <a:avLst>
              <a:gd name="adj" fmla="val 10000"/>
            </a:avLst>
          </a:prstGeom>
          <a:solidFill>
            <a:srgbClr val="E6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2221992"/>
            <a:ext cx="640080" cy="411480"/>
          </a:xfrm>
          <a:prstGeom prst="rect">
            <a:avLst/>
          </a:prstGeom>
          <a:noFill/>
        </p:spPr>
        <p:txBody>
          <a:bodyPr wrap="square" lIns="18288" tIns="18288" rIns="18288">
            <a:spAutoFit/>
          </a:bodyPr>
          <a:lstStyle/>
          <a:p>
            <a:pPr>
              <a:defRPr sz="2200" b="1">
                <a:solidFill>
                  <a:srgbClr val="39796F"/>
                </a:solidFill>
                <a:latin typeface="Aptos"/>
              </a:defRPr>
            </a:pPr>
            <a:r>
              <a:t>02</a:t>
            </a:r>
          </a:p>
        </p:txBody>
      </p:sp>
      <p:sp>
        <p:nvSpPr>
          <p:cNvPr id="19" name="TextBox 18"/>
          <p:cNvSpPr txBox="1"/>
          <p:nvPr/>
        </p:nvSpPr>
        <p:spPr>
          <a:xfrm>
            <a:off x="7132320" y="2258568"/>
            <a:ext cx="3977639" cy="868680"/>
          </a:xfrm>
          <a:prstGeom prst="rect">
            <a:avLst/>
          </a:prstGeom>
          <a:noFill/>
        </p:spPr>
        <p:txBody>
          <a:bodyPr wrap="square" lIns="18288" tIns="18288" rIns="18288">
            <a:spAutoFit/>
          </a:bodyPr>
          <a:lstStyle/>
          <a:p>
            <a:pPr>
              <a:defRPr sz="2500" b="1">
                <a:solidFill>
                  <a:srgbClr val="223B40"/>
                </a:solidFill>
                <a:latin typeface="Aptos"/>
              </a:defRPr>
            </a:pPr>
            <a:r>
              <a:t>We are more than a label.</a:t>
            </a:r>
          </a:p>
        </p:txBody>
      </p:sp>
      <p:sp>
        <p:nvSpPr>
          <p:cNvPr id="20" name="Rounded Rectangle 19"/>
          <p:cNvSpPr/>
          <p:nvPr/>
        </p:nvSpPr>
        <p:spPr>
          <a:xfrm>
            <a:off x="731520" y="3566160"/>
            <a:ext cx="5166360" cy="1261872"/>
          </a:xfrm>
          <a:prstGeom prst="roundRect">
            <a:avLst>
              <a:gd name="adj" fmla="val 10000"/>
            </a:avLst>
          </a:prstGeom>
          <a:solidFill>
            <a:srgbClr val="E6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3730752"/>
            <a:ext cx="640080" cy="411480"/>
          </a:xfrm>
          <a:prstGeom prst="rect">
            <a:avLst/>
          </a:prstGeom>
          <a:noFill/>
        </p:spPr>
        <p:txBody>
          <a:bodyPr wrap="square" lIns="18288" tIns="18288" rIns="18288">
            <a:spAutoFit/>
          </a:bodyPr>
          <a:lstStyle/>
          <a:p>
            <a:pPr>
              <a:defRPr sz="2200" b="1">
                <a:solidFill>
                  <a:srgbClr val="39796F"/>
                </a:solidFill>
                <a:latin typeface="Aptos"/>
              </a:defRPr>
            </a:pPr>
            <a:r>
              <a:t>03</a:t>
            </a:r>
          </a:p>
        </p:txBody>
      </p:sp>
      <p:sp>
        <p:nvSpPr>
          <p:cNvPr id="22" name="TextBox 21"/>
          <p:cNvSpPr txBox="1"/>
          <p:nvPr/>
        </p:nvSpPr>
        <p:spPr>
          <a:xfrm>
            <a:off x="1645920" y="3767328"/>
            <a:ext cx="3977639" cy="449354"/>
          </a:xfrm>
          <a:prstGeom prst="rect">
            <a:avLst/>
          </a:prstGeom>
          <a:noFill/>
        </p:spPr>
        <p:txBody>
          <a:bodyPr wrap="square" lIns="18288" tIns="18288" rIns="18288">
            <a:spAutoFit/>
          </a:bodyPr>
          <a:lstStyle/>
          <a:p>
            <a:pPr>
              <a:defRPr sz="2500" b="1">
                <a:solidFill>
                  <a:srgbClr val="223B40"/>
                </a:solidFill>
                <a:latin typeface="Aptos"/>
              </a:defRPr>
            </a:pPr>
            <a:r>
              <a:rPr dirty="0"/>
              <a:t>We </a:t>
            </a:r>
            <a:r>
              <a:rPr lang="en-US" dirty="0"/>
              <a:t>always </a:t>
            </a:r>
            <a:r>
              <a:rPr dirty="0"/>
              <a:t>change.</a:t>
            </a:r>
          </a:p>
        </p:txBody>
      </p:sp>
      <p:sp>
        <p:nvSpPr>
          <p:cNvPr id="23" name="Rounded Rectangle 22"/>
          <p:cNvSpPr/>
          <p:nvPr/>
        </p:nvSpPr>
        <p:spPr>
          <a:xfrm>
            <a:off x="6217920" y="3566160"/>
            <a:ext cx="5166360" cy="1261872"/>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9088" y="3730752"/>
            <a:ext cx="640080" cy="411480"/>
          </a:xfrm>
          <a:prstGeom prst="rect">
            <a:avLst/>
          </a:prstGeom>
          <a:noFill/>
        </p:spPr>
        <p:txBody>
          <a:bodyPr wrap="square" lIns="18288" tIns="18288" rIns="18288">
            <a:spAutoFit/>
          </a:bodyPr>
          <a:lstStyle/>
          <a:p>
            <a:pPr>
              <a:defRPr sz="2200" b="1">
                <a:solidFill>
                  <a:srgbClr val="39796F"/>
                </a:solidFill>
                <a:latin typeface="Aptos"/>
              </a:defRPr>
            </a:pPr>
            <a:r>
              <a:t>04</a:t>
            </a:r>
          </a:p>
        </p:txBody>
      </p:sp>
      <p:sp>
        <p:nvSpPr>
          <p:cNvPr id="25" name="TextBox 24"/>
          <p:cNvSpPr txBox="1"/>
          <p:nvPr/>
        </p:nvSpPr>
        <p:spPr>
          <a:xfrm>
            <a:off x="7132320" y="3767328"/>
            <a:ext cx="3977639" cy="868680"/>
          </a:xfrm>
          <a:prstGeom prst="rect">
            <a:avLst/>
          </a:prstGeom>
          <a:noFill/>
        </p:spPr>
        <p:txBody>
          <a:bodyPr wrap="square" lIns="18288" tIns="18288" rIns="18288">
            <a:spAutoFit/>
          </a:bodyPr>
          <a:lstStyle/>
          <a:p>
            <a:pPr>
              <a:defRPr sz="2500" b="1">
                <a:solidFill>
                  <a:srgbClr val="223B40"/>
                </a:solidFill>
                <a:latin typeface="Aptos"/>
              </a:defRPr>
            </a:pPr>
            <a:r>
              <a:t>What can we 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058400" cy="274320"/>
          </a:xfrm>
          <a:prstGeom prst="rect">
            <a:avLst/>
          </a:prstGeom>
          <a:noFill/>
        </p:spPr>
        <p:txBody>
          <a:bodyPr wrap="square" lIns="18288" t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28600"/>
          </a:xfrm>
          <a:prstGeom prst="rect">
            <a:avLst/>
          </a:prstGeom>
          <a:noFill/>
        </p:spPr>
        <p:txBody>
          <a:bodyPr wrap="square" lIns="18288" tIns="18288" rIns="18288">
            <a:spAutoFit/>
          </a:bodyPr>
          <a:lstStyle/>
          <a:p>
            <a:pPr>
              <a:defRPr sz="1000" b="0">
                <a:solidFill>
                  <a:srgbClr val="637575"/>
                </a:solidFill>
                <a:latin typeface="Aptos"/>
              </a:defRPr>
            </a:pPr>
            <a:r>
              <a:t>REASON 1</a:t>
            </a:r>
          </a:p>
        </p:txBody>
      </p:sp>
      <p:sp>
        <p:nvSpPr>
          <p:cNvPr id="5" name="TextBox 4"/>
          <p:cNvSpPr txBox="1"/>
          <p:nvPr/>
        </p:nvSpPr>
        <p:spPr>
          <a:xfrm>
            <a:off x="10972800" y="6400800"/>
            <a:ext cx="594360" cy="274320"/>
          </a:xfrm>
          <a:prstGeom prst="rect">
            <a:avLst/>
          </a:prstGeom>
          <a:noFill/>
        </p:spPr>
        <p:txBody>
          <a:bodyPr wrap="square" lIns="18288" tIns="18288" rIns="18288">
            <a:spAutoFit/>
          </a:bodyPr>
          <a:lstStyle/>
          <a:p>
            <a:pPr>
              <a:defRPr sz="1200" b="1">
                <a:solidFill>
                  <a:srgbClr val="39796F"/>
                </a:solidFill>
                <a:latin typeface="Aptos"/>
              </a:defRPr>
            </a:pPr>
            <a:r>
              <a:t>04</a:t>
            </a:r>
          </a:p>
        </p:txBody>
      </p:sp>
      <p:sp>
        <p:nvSpPr>
          <p:cNvPr id="6" name="Rectangle 5"/>
          <p:cNvSpPr/>
          <p:nvPr/>
        </p:nvSpPr>
        <p:spPr>
          <a:xfrm>
            <a:off x="62179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99616" y="6172200"/>
            <a:ext cx="210312" cy="32004"/>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92224"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8483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7744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941832"/>
            <a:ext cx="10881360" cy="731520"/>
          </a:xfrm>
          <a:prstGeom prst="rect">
            <a:avLst/>
          </a:prstGeom>
          <a:noFill/>
        </p:spPr>
        <p:txBody>
          <a:bodyPr wrap="square" lIns="18288" tIns="18288" rIns="18288">
            <a:spAutoFit/>
          </a:bodyPr>
          <a:lstStyle/>
          <a:p>
            <a:pPr>
              <a:defRPr sz="3500" b="1">
                <a:solidFill>
                  <a:srgbClr val="223B40"/>
                </a:solidFill>
                <a:latin typeface="Aptos"/>
              </a:defRPr>
            </a:pPr>
            <a:r>
              <a:t>We are more than a label.</a:t>
            </a:r>
          </a:p>
        </p:txBody>
      </p:sp>
      <p:sp>
        <p:nvSpPr>
          <p:cNvPr id="14" name="Rounded Rectangle 13"/>
          <p:cNvSpPr/>
          <p:nvPr/>
        </p:nvSpPr>
        <p:spPr>
          <a:xfrm>
            <a:off x="731520" y="2148840"/>
            <a:ext cx="5166360" cy="2148840"/>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2423160"/>
            <a:ext cx="4572000" cy="365760"/>
          </a:xfrm>
          <a:prstGeom prst="rect">
            <a:avLst/>
          </a:prstGeom>
          <a:noFill/>
        </p:spPr>
        <p:txBody>
          <a:bodyPr wrap="square" lIns="18288" tIns="18288" rIns="18288">
            <a:spAutoFit/>
          </a:bodyPr>
          <a:lstStyle/>
          <a:p>
            <a:pPr>
              <a:defRPr sz="1400" b="1">
                <a:solidFill>
                  <a:srgbClr val="39796F"/>
                </a:solidFill>
                <a:latin typeface="Aptos"/>
              </a:defRPr>
            </a:pPr>
            <a:r>
              <a:t>INTROVERT</a:t>
            </a:r>
          </a:p>
        </p:txBody>
      </p:sp>
      <p:sp>
        <p:nvSpPr>
          <p:cNvPr id="16" name="TextBox 15"/>
          <p:cNvSpPr txBox="1"/>
          <p:nvPr/>
        </p:nvSpPr>
        <p:spPr>
          <a:xfrm>
            <a:off x="1005840" y="2971800"/>
            <a:ext cx="4526280" cy="1097280"/>
          </a:xfrm>
          <a:prstGeom prst="rect">
            <a:avLst/>
          </a:prstGeom>
          <a:noFill/>
        </p:spPr>
        <p:txBody>
          <a:bodyPr wrap="square" lIns="18288" tIns="18288" rIns="18288">
            <a:spAutoFit/>
          </a:bodyPr>
          <a:lstStyle/>
          <a:p>
            <a:pPr>
              <a:defRPr sz="2700" b="1">
                <a:solidFill>
                  <a:srgbClr val="223B40"/>
                </a:solidFill>
                <a:latin typeface="Aptos"/>
              </a:defRPr>
            </a:pPr>
            <a:r>
              <a:t>An introvert can enjoy speaking up.</a:t>
            </a:r>
          </a:p>
        </p:txBody>
      </p:sp>
      <p:sp>
        <p:nvSpPr>
          <p:cNvPr id="17" name="Rounded Rectangle 16"/>
          <p:cNvSpPr/>
          <p:nvPr/>
        </p:nvSpPr>
        <p:spPr>
          <a:xfrm>
            <a:off x="6217920" y="2148840"/>
            <a:ext cx="5166360" cy="2148840"/>
          </a:xfrm>
          <a:prstGeom prst="roundRect">
            <a:avLst>
              <a:gd name="adj" fmla="val 10000"/>
            </a:avLst>
          </a:prstGeom>
          <a:solidFill>
            <a:srgbClr val="E6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2423160"/>
            <a:ext cx="4572000" cy="365760"/>
          </a:xfrm>
          <a:prstGeom prst="rect">
            <a:avLst/>
          </a:prstGeom>
          <a:noFill/>
        </p:spPr>
        <p:txBody>
          <a:bodyPr wrap="square" lIns="18288" tIns="18288" rIns="18288">
            <a:spAutoFit/>
          </a:bodyPr>
          <a:lstStyle/>
          <a:p>
            <a:pPr>
              <a:defRPr sz="1400" b="1">
                <a:solidFill>
                  <a:srgbClr val="39796F"/>
                </a:solidFill>
                <a:latin typeface="Aptos"/>
              </a:defRPr>
            </a:pPr>
            <a:r>
              <a:t>EXTROVERT</a:t>
            </a:r>
          </a:p>
        </p:txBody>
      </p:sp>
      <p:sp>
        <p:nvSpPr>
          <p:cNvPr id="19" name="TextBox 18"/>
          <p:cNvSpPr txBox="1"/>
          <p:nvPr/>
        </p:nvSpPr>
        <p:spPr>
          <a:xfrm>
            <a:off x="6492240" y="2971800"/>
            <a:ext cx="4526280" cy="1097280"/>
          </a:xfrm>
          <a:prstGeom prst="rect">
            <a:avLst/>
          </a:prstGeom>
          <a:noFill/>
        </p:spPr>
        <p:txBody>
          <a:bodyPr wrap="square" lIns="18288" tIns="18288" rIns="18288">
            <a:spAutoFit/>
          </a:bodyPr>
          <a:lstStyle/>
          <a:p>
            <a:pPr>
              <a:defRPr sz="2700" b="1">
                <a:solidFill>
                  <a:srgbClr val="223B40"/>
                </a:solidFill>
                <a:latin typeface="Aptos"/>
              </a:defRPr>
            </a:pPr>
            <a:r>
              <a:t>An extrovert can want a quiet evening alone.</a:t>
            </a:r>
          </a:p>
        </p:txBody>
      </p:sp>
      <p:sp>
        <p:nvSpPr>
          <p:cNvPr id="20" name="TextBox 19"/>
          <p:cNvSpPr txBox="1"/>
          <p:nvPr/>
        </p:nvSpPr>
        <p:spPr>
          <a:xfrm>
            <a:off x="868680" y="4892040"/>
            <a:ext cx="10424160" cy="731520"/>
          </a:xfrm>
          <a:prstGeom prst="rect">
            <a:avLst/>
          </a:prstGeom>
          <a:noFill/>
        </p:spPr>
        <p:txBody>
          <a:bodyPr wrap="square" lIns="18288" tIns="18288" rIns="18288">
            <a:spAutoFit/>
          </a:bodyPr>
          <a:lstStyle/>
          <a:p>
            <a:pPr>
              <a:defRPr sz="2800" b="1">
                <a:solidFill>
                  <a:srgbClr val="39796F"/>
                </a:solidFill>
                <a:latin typeface="Aptos"/>
              </a:defRPr>
            </a:pPr>
            <a:r>
              <a:t>Labels don’t have to decide what we can do.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058400" cy="274320"/>
          </a:xfrm>
          <a:prstGeom prst="rect">
            <a:avLst/>
          </a:prstGeom>
          <a:noFill/>
        </p:spPr>
        <p:txBody>
          <a:bodyPr wrap="square" lIns="18288" t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28600"/>
          </a:xfrm>
          <a:prstGeom prst="rect">
            <a:avLst/>
          </a:prstGeom>
          <a:noFill/>
        </p:spPr>
        <p:txBody>
          <a:bodyPr wrap="square" lIns="18288" tIns="18288" rIns="18288">
            <a:spAutoFit/>
          </a:bodyPr>
          <a:lstStyle/>
          <a:p>
            <a:pPr>
              <a:defRPr sz="1000" b="0">
                <a:solidFill>
                  <a:srgbClr val="637575"/>
                </a:solidFill>
                <a:latin typeface="Aptos"/>
              </a:defRPr>
            </a:pPr>
            <a:r>
              <a:t>REASON 2</a:t>
            </a:r>
          </a:p>
        </p:txBody>
      </p:sp>
      <p:sp>
        <p:nvSpPr>
          <p:cNvPr id="5" name="TextBox 4"/>
          <p:cNvSpPr txBox="1"/>
          <p:nvPr/>
        </p:nvSpPr>
        <p:spPr>
          <a:xfrm>
            <a:off x="10972800" y="6400800"/>
            <a:ext cx="594360" cy="274320"/>
          </a:xfrm>
          <a:prstGeom prst="rect">
            <a:avLst/>
          </a:prstGeom>
          <a:noFill/>
        </p:spPr>
        <p:txBody>
          <a:bodyPr wrap="square" lIns="18288" tIns="18288" rIns="18288">
            <a:spAutoFit/>
          </a:bodyPr>
          <a:lstStyle/>
          <a:p>
            <a:pPr>
              <a:defRPr sz="1200" b="1">
                <a:solidFill>
                  <a:srgbClr val="39796F"/>
                </a:solidFill>
                <a:latin typeface="Aptos"/>
              </a:defRPr>
            </a:pPr>
            <a:r>
              <a:t>05</a:t>
            </a:r>
          </a:p>
        </p:txBody>
      </p:sp>
      <p:sp>
        <p:nvSpPr>
          <p:cNvPr id="6" name="Rectangle 5"/>
          <p:cNvSpPr/>
          <p:nvPr/>
        </p:nvSpPr>
        <p:spPr>
          <a:xfrm>
            <a:off x="62179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99616"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92224" y="6172200"/>
            <a:ext cx="210312" cy="32004"/>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8483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7744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941832"/>
            <a:ext cx="10881360" cy="731520"/>
          </a:xfrm>
          <a:prstGeom prst="rect">
            <a:avLst/>
          </a:prstGeom>
          <a:noFill/>
        </p:spPr>
        <p:txBody>
          <a:bodyPr wrap="square" lIns="18288" tIns="18288" rIns="18288">
            <a:spAutoFit/>
          </a:bodyPr>
          <a:lstStyle/>
          <a:p>
            <a:pPr>
              <a:defRPr sz="3500" b="1">
                <a:solidFill>
                  <a:srgbClr val="223B40"/>
                </a:solidFill>
                <a:latin typeface="Aptos"/>
              </a:defRPr>
            </a:pPr>
            <a:r>
              <a:rPr dirty="0"/>
              <a:t>We also change over time.</a:t>
            </a:r>
          </a:p>
        </p:txBody>
      </p:sp>
      <p:sp>
        <p:nvSpPr>
          <p:cNvPr id="14" name="TextBox 13"/>
          <p:cNvSpPr txBox="1"/>
          <p:nvPr/>
        </p:nvSpPr>
        <p:spPr>
          <a:xfrm>
            <a:off x="731520" y="1755648"/>
            <a:ext cx="10607040" cy="457200"/>
          </a:xfrm>
          <a:prstGeom prst="rect">
            <a:avLst/>
          </a:prstGeom>
          <a:noFill/>
        </p:spPr>
        <p:txBody>
          <a:bodyPr wrap="square" lIns="18288" tIns="18288" rIns="18288">
            <a:spAutoFit/>
          </a:bodyPr>
          <a:lstStyle/>
          <a:p>
            <a:pPr>
              <a:defRPr sz="2200" b="0">
                <a:solidFill>
                  <a:srgbClr val="637575"/>
                </a:solidFill>
                <a:latin typeface="Aptos"/>
              </a:defRPr>
            </a:pPr>
            <a:r>
              <a:rPr dirty="0"/>
              <a:t>1,795 people · fifty years later</a:t>
            </a:r>
          </a:p>
        </p:txBody>
      </p:sp>
      <p:graphicFrame>
        <p:nvGraphicFramePr>
          <p:cNvPr id="15" name="Chart 14"/>
          <p:cNvGraphicFramePr>
            <a:graphicFrameLocks noGrp="1"/>
          </p:cNvGraphicFramePr>
          <p:nvPr/>
        </p:nvGraphicFramePr>
        <p:xfrm>
          <a:off x="731520" y="2331720"/>
          <a:ext cx="78181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6" name="Rounded Rectangle 15"/>
          <p:cNvSpPr/>
          <p:nvPr/>
        </p:nvSpPr>
        <p:spPr>
          <a:xfrm>
            <a:off x="8869680" y="2423160"/>
            <a:ext cx="2514600" cy="2697480"/>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0" y="2697480"/>
            <a:ext cx="2011680" cy="731520"/>
          </a:xfrm>
          <a:prstGeom prst="rect">
            <a:avLst/>
          </a:prstGeom>
          <a:noFill/>
        </p:spPr>
        <p:txBody>
          <a:bodyPr wrap="square" lIns="18288" tIns="18288" rIns="18288">
            <a:spAutoFit/>
          </a:bodyPr>
          <a:lstStyle/>
          <a:p>
            <a:pPr>
              <a:defRPr sz="3900" b="1">
                <a:solidFill>
                  <a:srgbClr val="39796F"/>
                </a:solidFill>
                <a:latin typeface="Aptos"/>
              </a:defRPr>
            </a:pPr>
            <a:r>
              <a:rPr dirty="0"/>
              <a:t>≈42%</a:t>
            </a:r>
          </a:p>
        </p:txBody>
      </p:sp>
      <p:sp>
        <p:nvSpPr>
          <p:cNvPr id="18" name="TextBox 17"/>
          <p:cNvSpPr txBox="1"/>
          <p:nvPr/>
        </p:nvSpPr>
        <p:spPr>
          <a:xfrm>
            <a:off x="9144000" y="3611880"/>
            <a:ext cx="1965960" cy="1143000"/>
          </a:xfrm>
          <a:prstGeom prst="rect">
            <a:avLst/>
          </a:prstGeom>
          <a:noFill/>
        </p:spPr>
        <p:txBody>
          <a:bodyPr wrap="square" lIns="18288" tIns="18288" rIns="18288">
            <a:spAutoFit/>
          </a:bodyPr>
          <a:lstStyle/>
          <a:p>
            <a:pPr>
              <a:defRPr sz="2500" b="1">
                <a:solidFill>
                  <a:srgbClr val="223B40"/>
                </a:solidFill>
                <a:latin typeface="Aptos"/>
              </a:defRPr>
            </a:pPr>
            <a:r>
              <a:t>became</a:t>
            </a:r>
          </a:p>
          <a:p>
            <a:pPr>
              <a:defRPr sz="2500" b="1">
                <a:solidFill>
                  <a:srgbClr val="223B40"/>
                </a:solidFill>
                <a:latin typeface="Aptos"/>
              </a:defRPr>
            </a:pPr>
            <a:r>
              <a:t>calmer</a:t>
            </a:r>
          </a:p>
        </p:txBody>
      </p:sp>
      <p:sp>
        <p:nvSpPr>
          <p:cNvPr id="19" name="TextBox 18"/>
          <p:cNvSpPr txBox="1"/>
          <p:nvPr/>
        </p:nvSpPr>
        <p:spPr>
          <a:xfrm>
            <a:off x="777240" y="5422392"/>
            <a:ext cx="10515600" cy="457200"/>
          </a:xfrm>
          <a:prstGeom prst="rect">
            <a:avLst/>
          </a:prstGeom>
          <a:noFill/>
        </p:spPr>
        <p:txBody>
          <a:bodyPr wrap="square" lIns="18288" tIns="18288" rIns="18288">
            <a:spAutoFit/>
          </a:bodyPr>
          <a:lstStyle/>
          <a:p>
            <a:pPr>
              <a:defRPr sz="2500" b="1">
                <a:solidFill>
                  <a:srgbClr val="39796F"/>
                </a:solidFill>
                <a:latin typeface="Aptos"/>
              </a:defRPr>
            </a:pPr>
            <a:r>
              <a:rPr lang="en-US" dirty="0"/>
              <a:t>Who we are today</a:t>
            </a:r>
            <a:r>
              <a:rPr dirty="0"/>
              <a:t> may not be the final one.</a:t>
            </a:r>
          </a:p>
        </p:txBody>
      </p:sp>
      <p:sp>
        <p:nvSpPr>
          <p:cNvPr id="20" name="TextBox 19"/>
          <p:cNvSpPr txBox="1"/>
          <p:nvPr/>
        </p:nvSpPr>
        <p:spPr>
          <a:xfrm>
            <a:off x="777240" y="5925312"/>
            <a:ext cx="10698480" cy="210312"/>
          </a:xfrm>
          <a:prstGeom prst="rect">
            <a:avLst/>
          </a:prstGeom>
          <a:noFill/>
        </p:spPr>
        <p:txBody>
          <a:bodyPr wrap="square" lIns="18288" tIns="18288" rIns="18288">
            <a:spAutoFit/>
          </a:bodyPr>
          <a:lstStyle/>
          <a:p>
            <a:pPr>
              <a:defRPr sz="1000" b="0">
                <a:solidFill>
                  <a:srgbClr val="637575"/>
                </a:solidFill>
                <a:latin typeface="Aptos"/>
              </a:defRPr>
            </a:pPr>
            <a:r>
              <a:t>Redrawn from Damian et al. (2019), Table 7, p. 688. Selected PTPI scales; RCI ±1.96. doi:10.1037/pspp0000210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058400" cy="274320"/>
          </a:xfrm>
          <a:prstGeom prst="rect">
            <a:avLst/>
          </a:prstGeom>
          <a:noFill/>
        </p:spPr>
        <p:txBody>
          <a:bodyPr wrap="square" lIns="18288" t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28600"/>
          </a:xfrm>
          <a:prstGeom prst="rect">
            <a:avLst/>
          </a:prstGeom>
          <a:noFill/>
        </p:spPr>
        <p:txBody>
          <a:bodyPr wrap="square" lIns="18288" tIns="18288" rIns="18288">
            <a:spAutoFit/>
          </a:bodyPr>
          <a:lstStyle/>
          <a:p>
            <a:pPr>
              <a:defRPr sz="1000" b="0">
                <a:solidFill>
                  <a:srgbClr val="637575"/>
                </a:solidFill>
                <a:latin typeface="Aptos"/>
              </a:defRPr>
            </a:pPr>
            <a:r>
              <a:t>IN PRACTICE</a:t>
            </a:r>
          </a:p>
        </p:txBody>
      </p:sp>
      <p:sp>
        <p:nvSpPr>
          <p:cNvPr id="5" name="TextBox 4"/>
          <p:cNvSpPr txBox="1"/>
          <p:nvPr/>
        </p:nvSpPr>
        <p:spPr>
          <a:xfrm>
            <a:off x="10972800" y="6400800"/>
            <a:ext cx="594360" cy="274320"/>
          </a:xfrm>
          <a:prstGeom prst="rect">
            <a:avLst/>
          </a:prstGeom>
          <a:noFill/>
        </p:spPr>
        <p:txBody>
          <a:bodyPr wrap="square" lIns="18288" tIns="18288" rIns="18288">
            <a:spAutoFit/>
          </a:bodyPr>
          <a:lstStyle/>
          <a:p>
            <a:pPr>
              <a:defRPr sz="1200" b="1">
                <a:solidFill>
                  <a:srgbClr val="39796F"/>
                </a:solidFill>
                <a:latin typeface="Aptos"/>
              </a:defRPr>
            </a:pPr>
            <a:r>
              <a:t>07</a:t>
            </a:r>
          </a:p>
        </p:txBody>
      </p:sp>
      <p:sp>
        <p:nvSpPr>
          <p:cNvPr id="6" name="Rectangle 5"/>
          <p:cNvSpPr/>
          <p:nvPr/>
        </p:nvSpPr>
        <p:spPr>
          <a:xfrm>
            <a:off x="62179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99616"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92224"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84832" y="6172200"/>
            <a:ext cx="210312" cy="32004"/>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7744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941832"/>
            <a:ext cx="10881360" cy="731520"/>
          </a:xfrm>
          <a:prstGeom prst="rect">
            <a:avLst/>
          </a:prstGeom>
          <a:noFill/>
        </p:spPr>
        <p:txBody>
          <a:bodyPr wrap="square" lIns="18288" tIns="18288" rIns="18288">
            <a:spAutoFit/>
          </a:bodyPr>
          <a:lstStyle/>
          <a:p>
            <a:pPr>
              <a:defRPr sz="3500" b="1">
                <a:solidFill>
                  <a:srgbClr val="223B40"/>
                </a:solidFill>
                <a:latin typeface="Aptos"/>
              </a:defRPr>
            </a:pPr>
            <a:r>
              <a:rPr dirty="0"/>
              <a:t>When it matters, ask yourself.</a:t>
            </a:r>
          </a:p>
        </p:txBody>
      </p:sp>
      <p:sp>
        <p:nvSpPr>
          <p:cNvPr id="14" name="Rounded Rectangle 13"/>
          <p:cNvSpPr/>
          <p:nvPr/>
        </p:nvSpPr>
        <p:spPr>
          <a:xfrm>
            <a:off x="731520" y="1938528"/>
            <a:ext cx="10652760" cy="1069848"/>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2084832"/>
            <a:ext cx="2697480" cy="685800"/>
          </a:xfrm>
          <a:prstGeom prst="rect">
            <a:avLst/>
          </a:prstGeom>
          <a:noFill/>
        </p:spPr>
        <p:txBody>
          <a:bodyPr wrap="square" lIns="18288" tIns="18288" rIns="18288">
            <a:spAutoFit/>
          </a:bodyPr>
          <a:lstStyle/>
          <a:p>
            <a:pPr>
              <a:defRPr sz="1300" b="1">
                <a:solidFill>
                  <a:srgbClr val="39796F"/>
                </a:solidFill>
                <a:latin typeface="Aptos"/>
              </a:defRPr>
            </a:pPr>
            <a:r>
              <a:rPr dirty="0"/>
              <a:t>ASK YOURSELF</a:t>
            </a:r>
          </a:p>
        </p:txBody>
      </p:sp>
      <p:sp>
        <p:nvSpPr>
          <p:cNvPr id="16" name="TextBox 15"/>
          <p:cNvSpPr txBox="1"/>
          <p:nvPr/>
        </p:nvSpPr>
        <p:spPr>
          <a:xfrm>
            <a:off x="3703320" y="2130552"/>
            <a:ext cx="7223760" cy="731520"/>
          </a:xfrm>
          <a:prstGeom prst="rect">
            <a:avLst/>
          </a:prstGeom>
          <a:noFill/>
        </p:spPr>
        <p:txBody>
          <a:bodyPr wrap="square" lIns="18288" tIns="18288" rIns="18288">
            <a:spAutoFit/>
          </a:bodyPr>
          <a:lstStyle/>
          <a:p>
            <a:pPr>
              <a:defRPr sz="2500" b="1">
                <a:solidFill>
                  <a:srgbClr val="223B40"/>
                </a:solidFill>
                <a:latin typeface="Aptos"/>
              </a:defRPr>
            </a:pPr>
            <a:r>
              <a:rPr dirty="0"/>
              <a:t>What do I really want?</a:t>
            </a:r>
          </a:p>
        </p:txBody>
      </p:sp>
      <p:sp>
        <p:nvSpPr>
          <p:cNvPr id="17" name="Rounded Rectangle 16"/>
          <p:cNvSpPr/>
          <p:nvPr/>
        </p:nvSpPr>
        <p:spPr>
          <a:xfrm>
            <a:off x="731520" y="3191256"/>
            <a:ext cx="10652760" cy="1069848"/>
          </a:xfrm>
          <a:prstGeom prst="roundRect">
            <a:avLst>
              <a:gd name="adj" fmla="val 10000"/>
            </a:avLst>
          </a:prstGeom>
          <a:solidFill>
            <a:srgbClr val="E6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3337560"/>
            <a:ext cx="2697480" cy="685800"/>
          </a:xfrm>
          <a:prstGeom prst="rect">
            <a:avLst/>
          </a:prstGeom>
          <a:noFill/>
        </p:spPr>
        <p:txBody>
          <a:bodyPr wrap="square" lIns="18288" tIns="18288" rIns="18288">
            <a:spAutoFit/>
          </a:bodyPr>
          <a:lstStyle/>
          <a:p>
            <a:pPr>
              <a:defRPr sz="1300" b="1">
                <a:solidFill>
                  <a:srgbClr val="39796F"/>
                </a:solidFill>
                <a:latin typeface="Aptos"/>
              </a:defRPr>
            </a:pPr>
            <a:r>
              <a:rPr dirty="0"/>
              <a:t>TAKE YOUR TIME</a:t>
            </a:r>
          </a:p>
        </p:txBody>
      </p:sp>
      <p:sp>
        <p:nvSpPr>
          <p:cNvPr id="19" name="TextBox 18"/>
          <p:cNvSpPr txBox="1"/>
          <p:nvPr/>
        </p:nvSpPr>
        <p:spPr>
          <a:xfrm>
            <a:off x="3703320" y="3383280"/>
            <a:ext cx="7223760" cy="731520"/>
          </a:xfrm>
          <a:prstGeom prst="rect">
            <a:avLst/>
          </a:prstGeom>
          <a:noFill/>
        </p:spPr>
        <p:txBody>
          <a:bodyPr wrap="square" lIns="18288" tIns="18288" rIns="18288">
            <a:spAutoFit/>
          </a:bodyPr>
          <a:lstStyle/>
          <a:p>
            <a:pPr>
              <a:defRPr sz="2500" b="1">
                <a:solidFill>
                  <a:srgbClr val="223B40"/>
                </a:solidFill>
                <a:latin typeface="Aptos"/>
              </a:defRPr>
            </a:pPr>
            <a:r>
              <a:rPr dirty="0"/>
              <a:t>Think before you decide.</a:t>
            </a:r>
          </a:p>
        </p:txBody>
      </p:sp>
      <p:sp>
        <p:nvSpPr>
          <p:cNvPr id="20" name="Rounded Rectangle 19"/>
          <p:cNvSpPr/>
          <p:nvPr/>
        </p:nvSpPr>
        <p:spPr>
          <a:xfrm>
            <a:off x="731520" y="4443984"/>
            <a:ext cx="10652760" cy="1069848"/>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4590288"/>
            <a:ext cx="2697480" cy="685800"/>
          </a:xfrm>
          <a:prstGeom prst="rect">
            <a:avLst/>
          </a:prstGeom>
          <a:noFill/>
        </p:spPr>
        <p:txBody>
          <a:bodyPr wrap="square" lIns="18288" tIns="18288" rIns="18288">
            <a:spAutoFit/>
          </a:bodyPr>
          <a:lstStyle/>
          <a:p>
            <a:pPr>
              <a:defRPr sz="1300" b="1">
                <a:solidFill>
                  <a:srgbClr val="39796F"/>
                </a:solidFill>
                <a:latin typeface="Aptos"/>
              </a:defRPr>
            </a:pPr>
            <a:r>
              <a:rPr dirty="0"/>
              <a:t>ASK OTHER PEOPLE</a:t>
            </a:r>
          </a:p>
        </p:txBody>
      </p:sp>
      <p:sp>
        <p:nvSpPr>
          <p:cNvPr id="22" name="TextBox 21"/>
          <p:cNvSpPr txBox="1"/>
          <p:nvPr/>
        </p:nvSpPr>
        <p:spPr>
          <a:xfrm>
            <a:off x="3703320" y="4636008"/>
            <a:ext cx="7223760" cy="731520"/>
          </a:xfrm>
          <a:prstGeom prst="rect">
            <a:avLst/>
          </a:prstGeom>
          <a:noFill/>
        </p:spPr>
        <p:txBody>
          <a:bodyPr wrap="square" lIns="18288" tIns="18288" rIns="18288">
            <a:spAutoFit/>
          </a:bodyPr>
          <a:lstStyle/>
          <a:p>
            <a:pPr>
              <a:defRPr sz="2500" b="1">
                <a:solidFill>
                  <a:srgbClr val="223B40"/>
                </a:solidFill>
                <a:latin typeface="Aptos"/>
              </a:defRPr>
            </a:pPr>
            <a:r>
              <a:rPr sz="2400"/>
              <a:t>Listen to different views. The choice is yours.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058400" cy="274320"/>
          </a:xfrm>
          <a:prstGeom prst="rect">
            <a:avLst/>
          </a:prstGeom>
          <a:noFill/>
        </p:spPr>
        <p:txBody>
          <a:bodyPr wrap="square" lIns="18288" t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28600"/>
          </a:xfrm>
          <a:prstGeom prst="rect">
            <a:avLst/>
          </a:prstGeom>
          <a:noFill/>
        </p:spPr>
        <p:txBody>
          <a:bodyPr wrap="square" lIns="18288" tIns="18288" rIns="18288">
            <a:spAutoFit/>
          </a:bodyPr>
          <a:lstStyle/>
          <a:p>
            <a:pPr>
              <a:defRPr sz="1000" b="0">
                <a:solidFill>
                  <a:srgbClr val="637575"/>
                </a:solidFill>
                <a:latin typeface="Aptos"/>
              </a:defRPr>
            </a:pPr>
            <a:r>
              <a:t>TAKEAWAY</a:t>
            </a:r>
          </a:p>
        </p:txBody>
      </p:sp>
      <p:sp>
        <p:nvSpPr>
          <p:cNvPr id="5" name="TextBox 4"/>
          <p:cNvSpPr txBox="1"/>
          <p:nvPr/>
        </p:nvSpPr>
        <p:spPr>
          <a:xfrm>
            <a:off x="10972800" y="6400800"/>
            <a:ext cx="594360" cy="274320"/>
          </a:xfrm>
          <a:prstGeom prst="rect">
            <a:avLst/>
          </a:prstGeom>
          <a:noFill/>
        </p:spPr>
        <p:txBody>
          <a:bodyPr wrap="square" lIns="18288" tIns="18288" rIns="18288">
            <a:spAutoFit/>
          </a:bodyPr>
          <a:lstStyle/>
          <a:p>
            <a:pPr>
              <a:defRPr sz="1200" b="1">
                <a:solidFill>
                  <a:srgbClr val="39796F"/>
                </a:solidFill>
                <a:latin typeface="Aptos"/>
              </a:defRPr>
            </a:pPr>
            <a:r>
              <a:t>08</a:t>
            </a:r>
          </a:p>
        </p:txBody>
      </p:sp>
      <p:sp>
        <p:nvSpPr>
          <p:cNvPr id="6" name="Rectangle 5"/>
          <p:cNvSpPr/>
          <p:nvPr/>
        </p:nvSpPr>
        <p:spPr>
          <a:xfrm>
            <a:off x="62179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99616"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92224"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8483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77440" y="6172200"/>
            <a:ext cx="210312" cy="32004"/>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941832"/>
            <a:ext cx="10881360" cy="731520"/>
          </a:xfrm>
          <a:prstGeom prst="rect">
            <a:avLst/>
          </a:prstGeom>
          <a:noFill/>
        </p:spPr>
        <p:txBody>
          <a:bodyPr wrap="square" lIns="18288" tIns="18288" rIns="18288">
            <a:spAutoFit/>
          </a:bodyPr>
          <a:lstStyle/>
          <a:p>
            <a:pPr>
              <a:defRPr sz="3500" b="1">
                <a:solidFill>
                  <a:srgbClr val="223B40"/>
                </a:solidFill>
                <a:latin typeface="Aptos"/>
              </a:defRPr>
            </a:pPr>
            <a:r>
              <a:t>So, what’s your MBTI?</a:t>
            </a:r>
          </a:p>
        </p:txBody>
      </p:sp>
      <p:sp>
        <p:nvSpPr>
          <p:cNvPr id="14" name="TextBox 13"/>
          <p:cNvSpPr txBox="1"/>
          <p:nvPr/>
        </p:nvSpPr>
        <p:spPr>
          <a:xfrm>
            <a:off x="822960" y="1965960"/>
            <a:ext cx="10515600" cy="548640"/>
          </a:xfrm>
          <a:prstGeom prst="rect">
            <a:avLst/>
          </a:prstGeom>
          <a:noFill/>
        </p:spPr>
        <p:txBody>
          <a:bodyPr wrap="square" lIns="18288" tIns="18288" rIns="18288">
            <a:spAutoFit/>
          </a:bodyPr>
          <a:lstStyle/>
          <a:p>
            <a:pPr>
              <a:defRPr sz="2600" b="1">
                <a:solidFill>
                  <a:srgbClr val="39796F"/>
                </a:solidFill>
                <a:latin typeface="Aptos"/>
              </a:defRPr>
            </a:pPr>
            <a:r>
              <a:t>Your type is only part of your story.</a:t>
            </a:r>
          </a:p>
        </p:txBody>
      </p:sp>
      <p:sp>
        <p:nvSpPr>
          <p:cNvPr id="15" name="TextBox 14"/>
          <p:cNvSpPr txBox="1"/>
          <p:nvPr/>
        </p:nvSpPr>
        <p:spPr>
          <a:xfrm>
            <a:off x="822960" y="2624328"/>
            <a:ext cx="10515600" cy="548640"/>
          </a:xfrm>
          <a:prstGeom prst="rect">
            <a:avLst/>
          </a:prstGeom>
          <a:noFill/>
        </p:spPr>
        <p:txBody>
          <a:bodyPr wrap="square" lIns="18288" tIns="18288" rIns="18288">
            <a:spAutoFit/>
          </a:bodyPr>
          <a:lstStyle/>
          <a:p>
            <a:pPr>
              <a:defRPr sz="2600" b="0">
                <a:solidFill>
                  <a:srgbClr val="223B40"/>
                </a:solidFill>
                <a:latin typeface="Aptos"/>
              </a:defRPr>
            </a:pPr>
            <a:r>
              <a:t>Live your life. Think when it matters.</a:t>
            </a:r>
          </a:p>
        </p:txBody>
      </p:sp>
      <p:sp>
        <p:nvSpPr>
          <p:cNvPr id="16" name="TextBox 15"/>
          <p:cNvSpPr txBox="1"/>
          <p:nvPr/>
        </p:nvSpPr>
        <p:spPr>
          <a:xfrm>
            <a:off x="822960" y="3282696"/>
            <a:ext cx="10515600" cy="548640"/>
          </a:xfrm>
          <a:prstGeom prst="rect">
            <a:avLst/>
          </a:prstGeom>
          <a:noFill/>
        </p:spPr>
        <p:txBody>
          <a:bodyPr wrap="square" lIns="18288" tIns="18288" rIns="18288">
            <a:spAutoFit/>
          </a:bodyPr>
          <a:lstStyle/>
          <a:p>
            <a:pPr>
              <a:defRPr sz="2600" b="0">
                <a:solidFill>
                  <a:srgbClr val="223B40"/>
                </a:solidFill>
                <a:latin typeface="Aptos"/>
              </a:defRPr>
            </a:pPr>
            <a:r>
              <a:t>Listen to others. Make your own choice.</a:t>
            </a:r>
          </a:p>
        </p:txBody>
      </p:sp>
      <p:sp>
        <p:nvSpPr>
          <p:cNvPr id="17" name="Rounded Rectangle 16"/>
          <p:cNvSpPr/>
          <p:nvPr/>
        </p:nvSpPr>
        <p:spPr>
          <a:xfrm>
            <a:off x="731520" y="4206240"/>
            <a:ext cx="10652760" cy="1508760"/>
          </a:xfrm>
          <a:prstGeom prst="roundRect">
            <a:avLst>
              <a:gd name="adj" fmla="val 10000"/>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4489704"/>
            <a:ext cx="10058400" cy="960120"/>
          </a:xfrm>
          <a:prstGeom prst="rect">
            <a:avLst/>
          </a:prstGeom>
          <a:noFill/>
        </p:spPr>
        <p:txBody>
          <a:bodyPr wrap="square" lIns="18288" tIns="18288" rIns="18288">
            <a:spAutoFit/>
          </a:bodyPr>
          <a:lstStyle/>
          <a:p>
            <a:pPr>
              <a:defRPr sz="2800" b="1">
                <a:solidFill>
                  <a:srgbClr val="FFFFFF"/>
                </a:solidFill>
                <a:latin typeface="Aptos"/>
              </a:defRPr>
            </a:pPr>
            <a:r>
              <a:t>You don’t need a final definition of yourself</a:t>
            </a:r>
          </a:p>
          <a:p>
            <a:pPr>
              <a:defRPr sz="2800" b="1">
                <a:solidFill>
                  <a:srgbClr val="FFFFFF"/>
                </a:solidFill>
                <a:latin typeface="Aptos"/>
              </a:defRPr>
            </a:pPr>
            <a:r>
              <a:t>to make choices that matter to you.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058400" cy="274320"/>
          </a:xfrm>
          <a:prstGeom prst="rect">
            <a:avLst/>
          </a:prstGeom>
          <a:noFill/>
        </p:spPr>
        <p:txBody>
          <a:bodyPr wrap="square" lIns="18288" t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28600"/>
          </a:xfrm>
          <a:prstGeom prst="rect">
            <a:avLst/>
          </a:prstGeom>
          <a:noFill/>
        </p:spPr>
        <p:txBody>
          <a:bodyPr wrap="square" lIns="18288" tIns="18288" rIns="18288">
            <a:spAutoFit/>
          </a:bodyPr>
          <a:lstStyle/>
          <a:p>
            <a:pPr>
              <a:defRPr sz="1000" b="0">
                <a:solidFill>
                  <a:srgbClr val="637575"/>
                </a:solidFill>
                <a:latin typeface="Aptos"/>
              </a:defRPr>
            </a:pPr>
            <a:r>
              <a:t>REFERENCE APPENDIX · NOT PART OF THE SPEECH</a:t>
            </a:r>
          </a:p>
        </p:txBody>
      </p:sp>
      <p:sp>
        <p:nvSpPr>
          <p:cNvPr id="5" name="TextBox 4"/>
          <p:cNvSpPr txBox="1"/>
          <p:nvPr/>
        </p:nvSpPr>
        <p:spPr>
          <a:xfrm>
            <a:off x="10972800" y="6400800"/>
            <a:ext cx="594360" cy="274320"/>
          </a:xfrm>
          <a:prstGeom prst="rect">
            <a:avLst/>
          </a:prstGeom>
          <a:noFill/>
        </p:spPr>
        <p:txBody>
          <a:bodyPr wrap="square" lIns="18288" tIns="18288" rIns="18288">
            <a:spAutoFit/>
          </a:bodyPr>
          <a:lstStyle/>
          <a:p>
            <a:pPr>
              <a:defRPr sz="1200" b="1">
                <a:solidFill>
                  <a:srgbClr val="39796F"/>
                </a:solidFill>
                <a:latin typeface="Aptos"/>
              </a:defRPr>
            </a:pPr>
            <a:r>
              <a:t>09</a:t>
            </a:r>
          </a:p>
        </p:txBody>
      </p:sp>
      <p:sp>
        <p:nvSpPr>
          <p:cNvPr id="6" name="Rectangle 5"/>
          <p:cNvSpPr/>
          <p:nvPr/>
        </p:nvSpPr>
        <p:spPr>
          <a:xfrm>
            <a:off x="62179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99616"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792224"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84832"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77440" y="6172200"/>
            <a:ext cx="210312" cy="32004"/>
          </a:xfrm>
          <a:prstGeom prst="rect">
            <a:avLst/>
          </a:prstGeom>
          <a:solidFill>
            <a:srgbClr val="D5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914400"/>
            <a:ext cx="10972800" cy="640080"/>
          </a:xfrm>
          <a:prstGeom prst="rect">
            <a:avLst/>
          </a:prstGeom>
          <a:noFill/>
        </p:spPr>
        <p:txBody>
          <a:bodyPr wrap="square" lIns="18288" tIns="18288" rIns="18288">
            <a:spAutoFit/>
          </a:bodyPr>
          <a:lstStyle/>
          <a:p>
            <a:pPr>
              <a:defRPr sz="3500" b="1">
                <a:solidFill>
                  <a:srgbClr val="223B40"/>
                </a:solidFill>
                <a:latin typeface="Aptos"/>
              </a:defRPr>
            </a:pPr>
            <a:r>
              <a:t>References</a:t>
            </a:r>
          </a:p>
        </p:txBody>
      </p:sp>
      <p:sp>
        <p:nvSpPr>
          <p:cNvPr id="14" name="TextBox 13"/>
          <p:cNvSpPr txBox="1"/>
          <p:nvPr/>
        </p:nvSpPr>
        <p:spPr>
          <a:xfrm>
            <a:off x="777240" y="1828800"/>
            <a:ext cx="10698480" cy="365760"/>
          </a:xfrm>
          <a:prstGeom prst="rect">
            <a:avLst/>
          </a:prstGeom>
          <a:noFill/>
        </p:spPr>
        <p:txBody>
          <a:bodyPr wrap="square" lIns="18288" tIns="18288" rIns="18288">
            <a:spAutoFit/>
          </a:bodyPr>
          <a:lstStyle/>
          <a:p>
            <a:pPr>
              <a:defRPr sz="2000" b="1">
                <a:solidFill>
                  <a:srgbClr val="39796F"/>
                </a:solidFill>
                <a:latin typeface="Aptos"/>
              </a:defRPr>
            </a:pPr>
            <a:r>
              <a:t>Research used for the chart</a:t>
            </a:r>
          </a:p>
        </p:txBody>
      </p:sp>
      <p:sp>
        <p:nvSpPr>
          <p:cNvPr id="15" name="TextBox 14"/>
          <p:cNvSpPr txBox="1"/>
          <p:nvPr/>
        </p:nvSpPr>
        <p:spPr>
          <a:xfrm>
            <a:off x="777240" y="2267712"/>
            <a:ext cx="10698480" cy="1828800"/>
          </a:xfrm>
          <a:prstGeom prst="rect">
            <a:avLst/>
          </a:prstGeom>
          <a:noFill/>
        </p:spPr>
        <p:txBody>
          <a:bodyPr wrap="square" lIns="18288" tIns="18288" rIns="18288">
            <a:spAutoFit/>
          </a:bodyPr>
          <a:lstStyle/>
          <a:p>
            <a:pPr>
              <a:defRPr sz="1700" b="0">
                <a:solidFill>
                  <a:srgbClr val="223B40"/>
                </a:solidFill>
                <a:latin typeface="Aptos"/>
              </a:defRPr>
            </a:pPr>
            <a:r>
              <a:t>Damian, R. I., Spengler, M., Sutu, A., &amp; Roberts, B. W. (2019).</a:t>
            </a:r>
          </a:p>
          <a:p>
            <a:pPr>
              <a:defRPr sz="1700" b="0">
                <a:solidFill>
                  <a:srgbClr val="223B40"/>
                </a:solidFill>
                <a:latin typeface="Aptos"/>
              </a:defRPr>
            </a:pPr>
            <a:r>
              <a:t>Sixteen going on sixty-six: A longitudinal study of personality stability</a:t>
            </a:r>
          </a:p>
          <a:p>
            <a:pPr>
              <a:defRPr sz="1700" b="0">
                <a:solidFill>
                  <a:srgbClr val="223B40"/>
                </a:solidFill>
                <a:latin typeface="Aptos"/>
              </a:defRPr>
            </a:pPr>
            <a:r>
              <a:t>and change across 50 years. Journal of Personality and Social Psychology,</a:t>
            </a:r>
          </a:p>
          <a:p>
            <a:pPr>
              <a:defRPr sz="1700" b="0">
                <a:solidFill>
                  <a:srgbClr val="223B40"/>
                </a:solidFill>
                <a:latin typeface="Aptos"/>
              </a:defRPr>
            </a:pPr>
            <a:r>
              <a:t>117(3), 674–695. https://doi.org/10.1037/pspp0000210</a:t>
            </a:r>
          </a:p>
          <a:p>
            <a:pPr>
              <a:defRPr sz="1700" b="0">
                <a:solidFill>
                  <a:srgbClr val="223B40"/>
                </a:solidFill>
                <a:latin typeface="Aptos"/>
              </a:defRPr>
            </a:pPr>
            <a:r>
              <a:t>Chart: selected rows from Table 7, p. 688; percentages are not MBTI results.</a:t>
            </a:r>
          </a:p>
        </p:txBody>
      </p:sp>
      <p:sp>
        <p:nvSpPr>
          <p:cNvPr id="16" name="TextBox 15"/>
          <p:cNvSpPr txBox="1"/>
          <p:nvPr/>
        </p:nvSpPr>
        <p:spPr>
          <a:xfrm>
            <a:off x="777240" y="4114800"/>
            <a:ext cx="10698480" cy="365760"/>
          </a:xfrm>
          <a:prstGeom prst="rect">
            <a:avLst/>
          </a:prstGeom>
          <a:noFill/>
        </p:spPr>
        <p:txBody>
          <a:bodyPr wrap="square" lIns="18288" tIns="18288" rIns="18288">
            <a:spAutoFit/>
          </a:bodyPr>
          <a:lstStyle/>
          <a:p>
            <a:pPr>
              <a:defRPr sz="2000" b="1">
                <a:solidFill>
                  <a:srgbClr val="39796F"/>
                </a:solidFill>
                <a:latin typeface="Aptos"/>
              </a:defRPr>
            </a:pPr>
            <a:r>
              <a:t>Starting-point readings</a:t>
            </a:r>
          </a:p>
        </p:txBody>
      </p:sp>
      <p:sp>
        <p:nvSpPr>
          <p:cNvPr id="17" name="TextBox 16"/>
          <p:cNvSpPr txBox="1"/>
          <p:nvPr/>
        </p:nvSpPr>
        <p:spPr>
          <a:xfrm>
            <a:off x="777240" y="4553712"/>
            <a:ext cx="10698480" cy="1828800"/>
          </a:xfrm>
          <a:prstGeom prst="rect">
            <a:avLst/>
          </a:prstGeom>
          <a:noFill/>
        </p:spPr>
        <p:txBody>
          <a:bodyPr wrap="square" lIns="18288" tIns="18288" rIns="18288">
            <a:spAutoFit/>
          </a:bodyPr>
          <a:lstStyle/>
          <a:p>
            <a:pPr>
              <a:defRPr sz="1700" b="0">
                <a:solidFill>
                  <a:srgbClr val="223B40"/>
                </a:solidFill>
                <a:latin typeface="Aptos"/>
              </a:defRPr>
            </a:pPr>
            <a:r>
              <a:t>Sah, S. (2025, January 7). How to Say No and Mean It. Psychology Today.</a:t>
            </a:r>
          </a:p>
          <a:p>
            <a:pPr>
              <a:defRPr sz="1700" b="0">
                <a:solidFill>
                  <a:srgbClr val="223B40"/>
                </a:solidFill>
                <a:latin typeface="Aptos"/>
              </a:defRPr>
            </a:pPr>
            <a:r>
              <a:t>Kam, K. (2024, November 7). Authenticity can protect mental health.</a:t>
            </a:r>
          </a:p>
          <a:p>
            <a:pPr>
              <a:defRPr sz="1700" b="0">
                <a:solidFill>
                  <a:srgbClr val="223B40"/>
                </a:solidFill>
                <a:latin typeface="Aptos"/>
              </a:defRPr>
            </a:pPr>
            <a:r>
              <a:t>Here’s how to be authentic. The Washington Post.</a:t>
            </a:r>
          </a:p>
          <a:p>
            <a:pPr>
              <a:defRPr sz="1700" b="0">
                <a:solidFill>
                  <a:srgbClr val="223B40"/>
                </a:solidFill>
                <a:latin typeface="Aptos"/>
              </a:defRPr>
            </a:pPr>
            <a:r>
              <a:t>Both readings were provided as course documents.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Rounded Rectangle 1"/>
          <p:cNvSpPr/>
          <p:nvPr/>
        </p:nvSpPr>
        <p:spPr>
          <a:xfrm>
            <a:off x="0" y="0"/>
            <a:ext cx="146304" cy="6858000"/>
          </a:xfrm>
          <a:prstGeom prst="roundRect">
            <a:avLst>
              <a:gd name="adj" fmla="val 10000"/>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058400" cy="320040"/>
          </a:xfrm>
          <a:prstGeom prst="rect">
            <a:avLst/>
          </a:prstGeom>
          <a:noFill/>
        </p:spPr>
        <p:txBody>
          <a:bodyPr wrap="square" lIns="18288" rIns="18288">
            <a:spAutoFit/>
          </a:bodyPr>
          <a:lstStyle/>
          <a:p>
            <a:pPr>
              <a:defRPr sz="1100" b="0">
                <a:solidFill>
                  <a:srgbClr val="637575"/>
                </a:solidFill>
                <a:latin typeface="Aptos"/>
              </a:defRPr>
            </a:pPr>
            <a:r>
              <a:t>FINDING YOUR AUTHENTIC SELF OR NOT</a:t>
            </a:r>
          </a:p>
        </p:txBody>
      </p:sp>
      <p:sp>
        <p:nvSpPr>
          <p:cNvPr id="4" name="TextBox 3"/>
          <p:cNvSpPr txBox="1"/>
          <p:nvPr/>
        </p:nvSpPr>
        <p:spPr>
          <a:xfrm>
            <a:off x="594360" y="6437376"/>
            <a:ext cx="9144000" cy="274320"/>
          </a:xfrm>
          <a:prstGeom prst="rect">
            <a:avLst/>
          </a:prstGeom>
          <a:noFill/>
        </p:spPr>
        <p:txBody>
          <a:bodyPr wrap="square" lIns="18288" rIns="18288">
            <a:spAutoFit/>
          </a:bodyPr>
          <a:lstStyle/>
          <a:p>
            <a:pPr>
              <a:defRPr sz="1000" b="0">
                <a:solidFill>
                  <a:srgbClr val="637575"/>
                </a:solidFill>
                <a:latin typeface="Aptos"/>
              </a:defRPr>
            </a:pPr>
            <a:r>
              <a:t>A QUICK SUMMARY</a:t>
            </a:r>
          </a:p>
        </p:txBody>
      </p:sp>
      <p:sp>
        <p:nvSpPr>
          <p:cNvPr id="5" name="TextBox 4"/>
          <p:cNvSpPr txBox="1"/>
          <p:nvPr/>
        </p:nvSpPr>
        <p:spPr>
          <a:xfrm>
            <a:off x="10972800" y="6400800"/>
            <a:ext cx="594360" cy="274320"/>
          </a:xfrm>
          <a:prstGeom prst="rect">
            <a:avLst/>
          </a:prstGeom>
          <a:noFill/>
        </p:spPr>
        <p:txBody>
          <a:bodyPr wrap="square" lIns="18288" rIns="18288">
            <a:spAutoFit/>
          </a:bodyPr>
          <a:lstStyle/>
          <a:p>
            <a:pPr>
              <a:defRPr sz="1200" b="1">
                <a:solidFill>
                  <a:srgbClr val="39796F"/>
                </a:solidFill>
                <a:latin typeface="Aptos"/>
              </a:defRPr>
            </a:pPr>
            <a:r>
              <a:t>06</a:t>
            </a:r>
          </a:p>
        </p:txBody>
      </p:sp>
      <p:sp>
        <p:nvSpPr>
          <p:cNvPr id="6" name="TextBox 5"/>
          <p:cNvSpPr txBox="1"/>
          <p:nvPr/>
        </p:nvSpPr>
        <p:spPr>
          <a:xfrm>
            <a:off x="685800" y="941832"/>
            <a:ext cx="10881360" cy="731520"/>
          </a:xfrm>
          <a:prstGeom prst="rect">
            <a:avLst/>
          </a:prstGeom>
          <a:noFill/>
        </p:spPr>
        <p:txBody>
          <a:bodyPr wrap="square" lIns="18288" rIns="18288">
            <a:spAutoFit/>
          </a:bodyPr>
          <a:lstStyle/>
          <a:p>
            <a:pPr>
              <a:defRPr sz="3500" b="1">
                <a:solidFill>
                  <a:srgbClr val="223B40"/>
                </a:solidFill>
                <a:latin typeface="Aptos"/>
              </a:defRPr>
            </a:pPr>
            <a:r>
              <a:t>So, why worry less?</a:t>
            </a:r>
          </a:p>
        </p:txBody>
      </p:sp>
      <p:sp>
        <p:nvSpPr>
          <p:cNvPr id="7" name="Rounded Rectangle 6"/>
          <p:cNvSpPr/>
          <p:nvPr/>
        </p:nvSpPr>
        <p:spPr>
          <a:xfrm>
            <a:off x="731520" y="2148840"/>
            <a:ext cx="5166360" cy="2148840"/>
          </a:xfrm>
          <a:prstGeom prst="roundRect">
            <a:avLst>
              <a:gd name="adj" fmla="val 10000"/>
            </a:avLst>
          </a:prstGeom>
          <a:solidFill>
            <a:srgbClr val="E6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23160"/>
            <a:ext cx="4572000" cy="365760"/>
          </a:xfrm>
          <a:prstGeom prst="rect">
            <a:avLst/>
          </a:prstGeom>
          <a:noFill/>
        </p:spPr>
        <p:txBody>
          <a:bodyPr wrap="square" lIns="18288" rIns="18288">
            <a:spAutoFit/>
          </a:bodyPr>
          <a:lstStyle/>
          <a:p>
            <a:pPr>
              <a:defRPr sz="1500" b="1">
                <a:solidFill>
                  <a:srgbClr val="39796F"/>
                </a:solidFill>
                <a:latin typeface="Aptos"/>
              </a:defRPr>
            </a:pPr>
            <a:r>
              <a:t>WE ARE COMPLEX.</a:t>
            </a:r>
          </a:p>
        </p:txBody>
      </p:sp>
      <p:sp>
        <p:nvSpPr>
          <p:cNvPr id="9" name="TextBox 8"/>
          <p:cNvSpPr txBox="1"/>
          <p:nvPr/>
        </p:nvSpPr>
        <p:spPr>
          <a:xfrm>
            <a:off x="1005840" y="2971800"/>
            <a:ext cx="4526280" cy="1097280"/>
          </a:xfrm>
          <a:prstGeom prst="rect">
            <a:avLst/>
          </a:prstGeom>
          <a:noFill/>
        </p:spPr>
        <p:txBody>
          <a:bodyPr wrap="square" lIns="18288" rIns="18288">
            <a:spAutoFit/>
          </a:bodyPr>
          <a:lstStyle/>
          <a:p>
            <a:pPr>
              <a:defRPr sz="2600" b="1">
                <a:solidFill>
                  <a:srgbClr val="223B40"/>
                </a:solidFill>
                <a:latin typeface="Aptos"/>
              </a:defRPr>
            </a:pPr>
            <a:r>
              <a:t>One label cannot tell the whole story.</a:t>
            </a:r>
          </a:p>
        </p:txBody>
      </p:sp>
      <p:sp>
        <p:nvSpPr>
          <p:cNvPr id="10" name="Rounded Rectangle 9"/>
          <p:cNvSpPr/>
          <p:nvPr/>
        </p:nvSpPr>
        <p:spPr>
          <a:xfrm>
            <a:off x="6217920" y="2148840"/>
            <a:ext cx="5166360" cy="2148840"/>
          </a:xfrm>
          <a:prstGeom prst="roundRect">
            <a:avLst>
              <a:gd name="adj" fmla="val 10000"/>
            </a:avLst>
          </a:prstGeom>
          <a:solidFill>
            <a:srgbClr val="E6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423160"/>
            <a:ext cx="4572000" cy="365760"/>
          </a:xfrm>
          <a:prstGeom prst="rect">
            <a:avLst/>
          </a:prstGeom>
          <a:noFill/>
        </p:spPr>
        <p:txBody>
          <a:bodyPr wrap="square" lIns="18288" rIns="18288">
            <a:spAutoFit/>
          </a:bodyPr>
          <a:lstStyle/>
          <a:p>
            <a:pPr>
              <a:defRPr sz="1500" b="1">
                <a:solidFill>
                  <a:srgbClr val="39796F"/>
                </a:solidFill>
                <a:latin typeface="Aptos"/>
              </a:defRPr>
            </a:pPr>
            <a:r>
              <a:t>WE CAN CHANGE.</a:t>
            </a:r>
          </a:p>
        </p:txBody>
      </p:sp>
      <p:sp>
        <p:nvSpPr>
          <p:cNvPr id="12" name="TextBox 11"/>
          <p:cNvSpPr txBox="1"/>
          <p:nvPr/>
        </p:nvSpPr>
        <p:spPr>
          <a:xfrm>
            <a:off x="6492240" y="2971800"/>
            <a:ext cx="4526280" cy="1097280"/>
          </a:xfrm>
          <a:prstGeom prst="rect">
            <a:avLst/>
          </a:prstGeom>
          <a:noFill/>
        </p:spPr>
        <p:txBody>
          <a:bodyPr wrap="square" lIns="18288" rIns="18288">
            <a:spAutoFit/>
          </a:bodyPr>
          <a:lstStyle/>
          <a:p>
            <a:pPr>
              <a:defRPr sz="2600" b="1">
                <a:solidFill>
                  <a:srgbClr val="223B40"/>
                </a:solidFill>
                <a:latin typeface="Aptos"/>
              </a:defRPr>
            </a:pPr>
            <a:r>
              <a:t>Who we are today may change over time.</a:t>
            </a:r>
          </a:p>
        </p:txBody>
      </p:sp>
      <p:sp>
        <p:nvSpPr>
          <p:cNvPr id="13" name="Rounded Rectangle 12"/>
          <p:cNvSpPr/>
          <p:nvPr/>
        </p:nvSpPr>
        <p:spPr>
          <a:xfrm>
            <a:off x="731520" y="4690872"/>
            <a:ext cx="10652760" cy="868680"/>
          </a:xfrm>
          <a:prstGeom prst="roundRect">
            <a:avLst>
              <a:gd name="adj" fmla="val 10000"/>
            </a:avLst>
          </a:prstGeom>
          <a:solidFill>
            <a:srgbClr val="39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864608"/>
            <a:ext cx="10058400" cy="548640"/>
          </a:xfrm>
          <a:prstGeom prst="rect">
            <a:avLst/>
          </a:prstGeom>
          <a:noFill/>
        </p:spPr>
        <p:txBody>
          <a:bodyPr wrap="square" lIns="18288" rIns="18288">
            <a:spAutoFit/>
          </a:bodyPr>
          <a:lstStyle/>
          <a:p>
            <a:pPr>
              <a:defRPr sz="2700" b="1">
                <a:solidFill>
                  <a:srgbClr val="FFFFFF"/>
                </a:solidFill>
                <a:latin typeface="Aptos"/>
              </a:defRPr>
            </a:pPr>
            <a:r>
              <a:t>We don’t need a fixed answer to “Who am 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984</Words>
  <Application>Microsoft Office PowerPoint</Application>
  <PresentationFormat>宽屏</PresentationFormat>
  <Paragraphs>106</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Music Coovari</dc:creator>
  <cp:keywords/>
  <dc:description>generated using python-pptx</dc:description>
  <cp:lastModifiedBy>Shengrui Li (SAI,126090358)</cp:lastModifiedBy>
  <cp:revision>2</cp:revision>
  <dcterms:created xsi:type="dcterms:W3CDTF">2013-01-27T09:14:16Z</dcterms:created>
  <dcterms:modified xsi:type="dcterms:W3CDTF">2026-10-26T15:48:07Z</dcterms:modified>
  <cp:category/>
</cp:coreProperties>
</file>